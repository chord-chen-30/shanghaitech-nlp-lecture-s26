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5" r:id="rId1"/>
  </p:sldMasterIdLst>
  <p:notesMasterIdLst>
    <p:notesMasterId r:id="rId29"/>
  </p:notesMasterIdLst>
  <p:sldIdLst>
    <p:sldId id="256" r:id="rId2"/>
    <p:sldId id="257" r:id="rId3"/>
    <p:sldId id="258" r:id="rId4"/>
    <p:sldId id="278" r:id="rId5"/>
    <p:sldId id="259" r:id="rId6"/>
    <p:sldId id="260" r:id="rId7"/>
    <p:sldId id="261" r:id="rId8"/>
    <p:sldId id="262" r:id="rId9"/>
    <p:sldId id="263" r:id="rId10"/>
    <p:sldId id="264" r:id="rId11"/>
    <p:sldId id="279" r:id="rId12"/>
    <p:sldId id="268" r:id="rId13"/>
    <p:sldId id="266" r:id="rId14"/>
    <p:sldId id="267" r:id="rId15"/>
    <p:sldId id="270" r:id="rId16"/>
    <p:sldId id="269" r:id="rId17"/>
    <p:sldId id="271" r:id="rId18"/>
    <p:sldId id="274" r:id="rId19"/>
    <p:sldId id="275" r:id="rId20"/>
    <p:sldId id="272" r:id="rId21"/>
    <p:sldId id="273" r:id="rId22"/>
    <p:sldId id="280" r:id="rId23"/>
    <p:sldId id="281" r:id="rId24"/>
    <p:sldId id="276" r:id="rId25"/>
    <p:sldId id="277" r:id="rId26"/>
    <p:sldId id="282" r:id="rId27"/>
    <p:sldId id="265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4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03447BB-5D67-496B-8E87-E561075AD55C}" styleName="深色样式 1 - 强调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05"/>
    <p:restoredTop sz="94683"/>
  </p:normalViewPr>
  <p:slideViewPr>
    <p:cSldViewPr snapToGrid="0">
      <p:cViewPr>
        <p:scale>
          <a:sx n="126" d="100"/>
          <a:sy n="126" d="100"/>
        </p:scale>
        <p:origin x="29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C2160-8E48-5645-B58E-7580964B92A4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0AD62-5F1C-1941-B58F-3F3E66F5EA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830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00AD62-5F1C-1941-B58F-3F3E66F5EAB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3730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FC9E8-0BC0-D829-5F4E-4BCF23288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DB02D1-C4AD-8625-8CF2-A8F1DB794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88253D-74DF-398D-0015-66C4BE81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CC2182-DA21-B564-8529-153B2E54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81D9E5-70E7-5B16-42F1-60DF965D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131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F1100-EA19-5877-EDF9-985F9BB1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23AB2-B33F-6D47-CB77-9D366BA1E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3F874-50C9-11D4-26DB-9F9FEB4B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2A3F7F-91F5-F7D3-7A97-1433681C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5B1F4B-9725-7BB1-3A32-AB111BC5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069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A66D1-D147-9104-E9A0-89D6C7478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B4E12E-5E79-DF41-B8B3-8F8746E6C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66363C-2E99-5B94-7509-88538E7E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257E85-5549-D14A-F43F-81A431D5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56B102-27C7-9D60-208E-E94B8973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5495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087DF-A80F-2DCA-8A33-BA02D6EB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14554A-3FD1-06B9-B6F4-939E762885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084A4F-3EEB-712B-49F9-446CA68A9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8A0010-EEEB-F3C9-AF57-784F8701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F72BFA-3631-77CA-314E-277EC1A3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7357EC-24B6-46E6-7AC8-46650985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754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FE2EA-B825-975E-409B-A40CC466C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BEBD55-7720-8DBD-5FC9-9494E79E8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3B647A-0BEC-1E4D-D8F1-ED524159A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31DD73-2162-7CEE-AA29-8ED11C86C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868621-DB8B-0186-DFD4-8FEA80B5A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DBA4EA-863F-6C88-AA16-19160204C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57F989-29E4-D497-DD5C-FA0A7C80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9132CB-AD6D-DD13-B2F0-2F4EF1FA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067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4F983-7E3B-85CE-16F9-699540559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FD8D60-550D-4BBE-39BD-2364C657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BAA59F-F3F3-6A45-ECCF-21BFDBED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286282-2691-79D4-2D35-B91D255E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17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4BCED9-42FC-7478-D96F-038BC19B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E49D0F-13A2-1F6F-623F-EF9A3799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975A33-2D49-5EF0-FBF6-E20BEE0F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055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6FDF6-DE31-4DB9-BB3B-A47ABDEE9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89544C-376A-E0E8-769D-2B9B0730D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6B53B9-4410-EA1D-DC0E-E46F0DBD2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7F7365-46F1-BE5D-AEAA-0E34E49B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52F7F4-8C85-516C-2DCE-3D87FA400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6EDFCF-B6F9-5321-0028-9B017D07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872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52BCA-0475-2F4D-2D51-5CF294CB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570037-348C-6EB5-085F-85B057DA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3DA32E-DB3C-13A3-45D7-3BC31EEDF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42D10A-7D98-03A3-3E73-30C6FC34B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41FF37-7B87-292D-34AE-0ADA74D5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32D4EE-3EB2-5CF2-26A4-1D46A18BD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0530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6440C8-4CC9-7C91-F2B1-E1ACFD4A3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77A0CA-5CDE-DAB2-3CE3-8453A747E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A90262-37CC-FBE9-58CE-CCC74EE0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8399BA-2EEA-F58F-B881-2338D88A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C4202A-3F72-7412-FE0D-7C6D219E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65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4743B60-E0AF-9B85-A8A3-DD44E7196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65FEE3-AAAF-4A8C-3599-3F90AF573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CE4E01-E309-7C13-F099-354FBDDC3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B462C-006C-2BE7-98E7-991E0CA2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979D7B-41DE-BF1A-734E-801711CE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443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156F74-D334-0AA9-E9EC-297CC79C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73DD7A-A0F0-564A-E152-4184B85A7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FED2FC-F31D-9681-B19A-79B331E69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28845-6FD2-0E45-BC09-ABE585045D01}" type="datetimeFigureOut">
              <a:rPr kumimoji="1" lang="zh-CN" altLang="en-US" smtClean="0"/>
              <a:t>2026/4/10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CE8CD4-ABB4-FFE5-22F2-8C2CFB943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ADACAE-3B97-7B40-DCBB-2E593CB50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2F4B0-E43C-7B4F-A850-9181127A6D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903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ord-Chen-30/ShanghaiTech-NLP-Lecture-S2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60E76-CE37-FCA1-CECE-682D0FBEE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822" y="1122363"/>
            <a:ext cx="9531178" cy="2387600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Engineering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&amp;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Practice</a:t>
            </a:r>
            <a:b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</a:br>
            <a:r>
              <a:rPr kumimoji="1" lang="zh-CN" altLang="en-US" dirty="0">
                <a:latin typeface="+mn-ea"/>
                <a:ea typeface="+mn-ea"/>
                <a:cs typeface="Calibri" panose="020F0502020204030204" pitchFamily="34" charset="0"/>
              </a:rPr>
              <a:t>大模型工程应用和实践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4DDF23-F799-1F2A-4F74-3424075F0D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2026/4/13</a:t>
            </a:r>
          </a:p>
          <a:p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陈卓</a:t>
            </a:r>
          </a:p>
        </p:txBody>
      </p:sp>
    </p:spTree>
    <p:extLst>
      <p:ext uri="{BB962C8B-B14F-4D97-AF65-F5344CB8AC3E}">
        <p14:creationId xmlns:p14="http://schemas.microsoft.com/office/powerpoint/2010/main" val="1157054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D6A4F-4C91-23B4-6801-23700D95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Content</a:t>
            </a:r>
            <a:endParaRPr kumimoji="1" lang="zh-CN" altLang="en-US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AFD580-9520-0FED-7209-FBF41E09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6957" cy="4921164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Online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&amp;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External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Tools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Data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synthesis,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preliminary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experiments,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etc.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endParaRPr kumimoji="1" lang="en-US" altLang="zh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Training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Code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Frameworks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Pre-training,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Supervised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Fine-Tuning,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Reinforcement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Learning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Arguments</a:t>
            </a:r>
          </a:p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Inference/Deployment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Past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Present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Implementations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endParaRPr kumimoji="1" lang="en-US" altLang="zh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kumimoji="1" lang="en-US" altLang="zh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accent2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Why</a:t>
            </a:r>
            <a:r>
              <a:rPr kumimoji="1" lang="zh-CN" altLang="en-US" dirty="0">
                <a:solidFill>
                  <a:schemeClr val="accent2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these</a:t>
            </a:r>
            <a:r>
              <a:rPr kumimoji="1" lang="zh-CN" altLang="en-US" dirty="0">
                <a:solidFill>
                  <a:schemeClr val="accent2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stuff?</a:t>
            </a:r>
            <a:endParaRPr kumimoji="1" lang="zh-CN" altLang="en-US" dirty="0">
              <a:solidFill>
                <a:schemeClr val="accent2"/>
              </a:solidFill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84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30346-0B73-A8A0-6C66-32EF7CC53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Why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these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stuff?</a:t>
            </a:r>
            <a:endParaRPr kumimoji="1"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74D4D19-31E8-BD18-FFAF-FAA2979E4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92228"/>
            <a:ext cx="1677730" cy="167773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1C06D7-52D6-2B3D-BA23-8610A708B81C}"/>
              </a:ext>
            </a:extLst>
          </p:cNvPr>
          <p:cNvSpPr txBox="1"/>
          <p:nvPr/>
        </p:nvSpPr>
        <p:spPr>
          <a:xfrm>
            <a:off x="2515929" y="2246211"/>
            <a:ext cx="35800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老板：</a:t>
            </a:r>
            <a:endParaRPr kumimoji="1" lang="en-US" altLang="zh-CN" dirty="0">
              <a:latin typeface="+mn-ea"/>
              <a:cs typeface="Calibri" panose="020F0502020204030204" pitchFamily="34" charset="0"/>
            </a:endParaRPr>
          </a:p>
          <a:p>
            <a:endParaRPr kumimoji="1" lang="en-US" altLang="zh-CN" dirty="0">
              <a:latin typeface="+mn-ea"/>
              <a:cs typeface="Calibri" panose="020F0502020204030204" pitchFamily="34" charset="0"/>
            </a:endParaRPr>
          </a:p>
          <a:p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去！训个模型，让它能按照我们公司的要求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/</a:t>
            </a:r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政策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/</a:t>
            </a:r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话术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/</a:t>
            </a:r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语言风格，回复客户消息。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67A9DC-7384-2B4F-BE1D-40E91F9A1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128" y="3971497"/>
            <a:ext cx="1676672" cy="147547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5C3F82D-5022-F83C-5F0F-1100AADA61C7}"/>
              </a:ext>
            </a:extLst>
          </p:cNvPr>
          <p:cNvSpPr txBox="1"/>
          <p:nvPr/>
        </p:nvSpPr>
        <p:spPr>
          <a:xfrm>
            <a:off x="5535827" y="3832069"/>
            <a:ext cx="4042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我们：</a:t>
            </a:r>
            <a:endParaRPr kumimoji="1" lang="en-US" altLang="zh-CN" dirty="0">
              <a:latin typeface="+mn-ea"/>
              <a:cs typeface="Calibri" panose="020F0502020204030204" pitchFamily="34" charset="0"/>
            </a:endParaRPr>
          </a:p>
          <a:p>
            <a:endParaRPr kumimoji="1" lang="en-US" altLang="zh-CN" dirty="0">
              <a:latin typeface="+mn-ea"/>
              <a:cs typeface="Calibri" panose="020F0502020204030204" pitchFamily="34" charset="0"/>
            </a:endParaRPr>
          </a:p>
          <a:p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浏览器打开 豆包、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Gemini</a:t>
            </a:r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、 </a:t>
            </a:r>
            <a:r>
              <a:rPr kumimoji="1" lang="en-US" altLang="zh-CN" dirty="0" err="1">
                <a:latin typeface="+mn-ea"/>
                <a:cs typeface="Calibri" panose="020F0502020204030204" pitchFamily="34" charset="0"/>
              </a:rPr>
              <a:t>DeepSeek</a:t>
            </a:r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、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GPT</a:t>
            </a:r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，一通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prompt</a:t>
            </a:r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engineering……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634247C-6B92-1844-55CC-3DBCE84371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46" t="12009" r="28436" b="10525"/>
          <a:stretch/>
        </p:blipFill>
        <p:spPr bwMode="auto">
          <a:xfrm>
            <a:off x="467096" y="5953595"/>
            <a:ext cx="716692" cy="67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82DBCE6-CCF4-F2BA-E477-08A491889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641" y="5916524"/>
            <a:ext cx="716692" cy="71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0EB3A2B-C4E1-246F-1909-D55F9FCCC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829" y="5854739"/>
            <a:ext cx="860199" cy="85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C67B876-946D-FA79-45B4-241489876FE5}"/>
              </a:ext>
            </a:extLst>
          </p:cNvPr>
          <p:cNvSpPr txBox="1"/>
          <p:nvPr/>
        </p:nvSpPr>
        <p:spPr>
          <a:xfrm>
            <a:off x="2901373" y="6071709"/>
            <a:ext cx="604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：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【</a:t>
            </a:r>
            <a:r>
              <a:rPr lang="zh-CN" altLang="en-US" dirty="0">
                <a:latin typeface="+mn-ea"/>
              </a:rPr>
              <a:t>东拉西扯一堆废话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】【</a:t>
            </a:r>
            <a:r>
              <a:rPr lang="zh-CN" altLang="en-US" dirty="0">
                <a:latin typeface="+mn-ea"/>
              </a:rPr>
              <a:t>“你可以查阅相关规定。”</a:t>
            </a:r>
            <a:r>
              <a:rPr kumimoji="1" lang="en-US" altLang="zh-CN" dirty="0">
                <a:latin typeface="+mn-ea"/>
                <a:cs typeface="Calibri" panose="020F0502020204030204" pitchFamily="34" charset="0"/>
              </a:rPr>
              <a:t>】</a:t>
            </a:r>
            <a:r>
              <a:rPr lang="zh-CN" altLang="en-US" dirty="0">
                <a:latin typeface="+mn-ea"/>
              </a:rPr>
              <a:t>抱歉，我无法执行该操作。</a:t>
            </a:r>
            <a:endParaRPr kumimoji="1" lang="zh-CN" altLang="en-US" dirty="0">
              <a:latin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91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D6A4F-4C91-23B4-6801-23700D95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Content</a:t>
            </a:r>
            <a:endParaRPr kumimoji="1" lang="zh-CN" altLang="en-US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AFD580-9520-0FED-7209-FBF41E09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6957" cy="4921164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Online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&amp;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External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Tools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Data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synthesis,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preliminary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experiments,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etc.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endParaRPr kumimoji="1" lang="en-US" altLang="zh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Training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Code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Frameworks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Pre-training,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Supervised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Fine-Tuning,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Reinforcement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Learning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Arguments</a:t>
            </a:r>
          </a:p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Inference/Deployment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Past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Present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Implementations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627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EBCB6-7E8A-A216-F9B2-AE3D25CB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Online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2758E-142C-2D23-035A-2D75A45F0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当想利用强模型制作一批数据，限制：闭源、资源不足以部署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……</a:t>
            </a:r>
          </a:p>
          <a:p>
            <a:pPr marL="0" indent="0">
              <a:buNone/>
            </a:pP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OpenAI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" altLang="zh-CN" dirty="0">
                <a:latin typeface="Calibri" panose="020F0502020204030204" pitchFamily="34" charset="0"/>
                <a:cs typeface="Calibri" panose="020F0502020204030204" pitchFamily="34" charset="0"/>
              </a:rPr>
              <a:t>Anthropic</a:t>
            </a:r>
          </a:p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OpenRouter</a:t>
            </a:r>
            <a:endParaRPr kumimoji="1"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Ofox.ai</a:t>
            </a:r>
            <a:endParaRPr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阿里云</a:t>
            </a:r>
            <a:endParaRPr kumimoji="1" lang="en-US" altLang="zh-CN" dirty="0">
              <a:latin typeface="+mn-ea"/>
              <a:cs typeface="Calibri" panose="020F0502020204030204" pitchFamily="34" charset="0"/>
            </a:endParaRP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……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0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48D49-3726-F3E9-951D-591AAE17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Online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  <a:endParaRPr kumimoji="1"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1901737-3BE9-2FBC-ED88-B994E768A4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975065"/>
              </p:ext>
            </p:extLst>
          </p:nvPr>
        </p:nvGraphicFramePr>
        <p:xfrm>
          <a:off x="1737625" y="2147888"/>
          <a:ext cx="7695134" cy="3629153"/>
        </p:xfrm>
        <a:graphic>
          <a:graphicData uri="http://schemas.openxmlformats.org/drawingml/2006/table">
            <a:tbl>
              <a:tblPr bandRow="1">
                <a:tableStyleId>{1FECB4D8-DB02-4DC6-A0A2-4F2EBAE1DC90}</a:tableStyleId>
              </a:tblPr>
              <a:tblGrid>
                <a:gridCol w="3207354">
                  <a:extLst>
                    <a:ext uri="{9D8B030D-6E8A-4147-A177-3AD203B41FA5}">
                      <a16:colId xmlns:a16="http://schemas.microsoft.com/office/drawing/2014/main" val="3189516510"/>
                    </a:ext>
                  </a:extLst>
                </a:gridCol>
                <a:gridCol w="4487780">
                  <a:extLst>
                    <a:ext uri="{9D8B030D-6E8A-4147-A177-3AD203B41FA5}">
                      <a16:colId xmlns:a16="http://schemas.microsoft.com/office/drawing/2014/main" val="3698488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</a:t>
                      </a:r>
                      <a:endParaRPr lang="en" sz="1800" b="0" dirty="0">
                        <a:effectLst/>
                        <a:latin typeface="Consolas" panose="020B0609020204030204" pitchFamily="49" charset="0"/>
                        <a:ea typeface="Microsoft YaHei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唯一标识 </a:t>
                      </a:r>
                      <a:r>
                        <a:rPr lang="en" sz="1800" dirty="0">
                          <a:effectLst/>
                          <a:latin typeface="+mn-ea"/>
                          <a:ea typeface="+mn-ea"/>
                        </a:rPr>
                        <a:t>ID（</a:t>
                      </a: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用于日志、排查问题）</a:t>
                      </a:r>
                      <a:endParaRPr lang="zh-CN" altLang="en-US" sz="1800" dirty="0">
                        <a:effectLst/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9714547"/>
                  </a:ext>
                </a:extLst>
              </a:tr>
              <a:tr h="34269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model</a:t>
                      </a:r>
                      <a:endParaRPr lang="en" sz="1800" b="0" dirty="0">
                        <a:effectLst/>
                        <a:latin typeface="Consolas" panose="020B0609020204030204" pitchFamily="49" charset="0"/>
                        <a:ea typeface="Microsoft YaHei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模型名称（ </a:t>
                      </a:r>
                      <a:r>
                        <a:rPr lang="en" sz="1800" dirty="0" err="1">
                          <a:effectLst/>
                          <a:latin typeface="+mn-ea"/>
                          <a:ea typeface="+mn-ea"/>
                        </a:rPr>
                        <a:t>OpenRouter</a:t>
                      </a:r>
                      <a:r>
                        <a:rPr lang="en" sz="18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命名）</a:t>
                      </a:r>
                      <a:endParaRPr lang="zh-CN" altLang="en-US" sz="1800" dirty="0">
                        <a:effectLst/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5664121"/>
                  </a:ext>
                </a:extLst>
              </a:tr>
              <a:tr h="20589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" sz="18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choices</a:t>
                      </a:r>
                      <a:endParaRPr lang="en" sz="1800" b="0" dirty="0">
                        <a:effectLst/>
                        <a:latin typeface="Consolas" panose="020B0609020204030204" pitchFamily="49" charset="0"/>
                        <a:ea typeface="Microsoft YaHei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模型输出列表（通常只有一条结果）</a:t>
                      </a:r>
                      <a:endParaRPr lang="en-US" altLang="zh-CN" sz="18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也许同时包含 </a:t>
                      </a:r>
                      <a:r>
                        <a:rPr lang="en-US" altLang="zh-CN" sz="1800" dirty="0">
                          <a:effectLst/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reasoning</a:t>
                      </a: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 内容</a:t>
                      </a: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0993568"/>
                  </a:ext>
                </a:extLst>
              </a:tr>
              <a:tr h="2432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usage.prompt_tokens</a:t>
                      </a:r>
                      <a:endParaRPr lang="en" sz="1800" b="0" dirty="0">
                        <a:effectLst/>
                        <a:latin typeface="Consolas" panose="020B0609020204030204" pitchFamily="49" charset="0"/>
                        <a:ea typeface="Microsoft YaHei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输入消耗的 </a:t>
                      </a:r>
                      <a:r>
                        <a:rPr lang="en" sz="1800" dirty="0">
                          <a:effectLst/>
                          <a:latin typeface="+mn-ea"/>
                          <a:ea typeface="+mn-ea"/>
                        </a:rPr>
                        <a:t>token </a:t>
                      </a: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数</a:t>
                      </a:r>
                      <a:endParaRPr lang="zh-CN" altLang="en-US" sz="1800" dirty="0">
                        <a:effectLst/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452185"/>
                  </a:ext>
                </a:extLst>
              </a:tr>
              <a:tr h="292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usage.completion_tokens</a:t>
                      </a:r>
                      <a:endParaRPr lang="en" sz="1800" b="0" dirty="0">
                        <a:effectLst/>
                        <a:latin typeface="Consolas" panose="020B0609020204030204" pitchFamily="49" charset="0"/>
                        <a:ea typeface="Microsoft YaHei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输出消耗的 </a:t>
                      </a:r>
                      <a:r>
                        <a:rPr lang="en" sz="1800" dirty="0">
                          <a:effectLst/>
                          <a:latin typeface="+mn-ea"/>
                          <a:ea typeface="+mn-ea"/>
                        </a:rPr>
                        <a:t>token </a:t>
                      </a: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数</a:t>
                      </a:r>
                      <a:endParaRPr lang="zh-CN" altLang="en-US" sz="1800" dirty="0">
                        <a:effectLst/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1076266"/>
                  </a:ext>
                </a:extLst>
              </a:tr>
              <a:tr h="23076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usage.total_tokens</a:t>
                      </a:r>
                      <a:endParaRPr lang="en" sz="1800" b="0" dirty="0">
                        <a:effectLst/>
                        <a:latin typeface="Consolas" panose="020B0609020204030204" pitchFamily="49" charset="0"/>
                        <a:ea typeface="Microsoft YaHei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本次请求总 </a:t>
                      </a:r>
                      <a:r>
                        <a:rPr lang="en" sz="1800" dirty="0">
                          <a:effectLst/>
                          <a:latin typeface="+mn-ea"/>
                          <a:ea typeface="+mn-ea"/>
                        </a:rPr>
                        <a:t>token </a:t>
                      </a: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数</a:t>
                      </a:r>
                      <a:endParaRPr lang="zh-CN" altLang="en-US" sz="1800" dirty="0">
                        <a:effectLst/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3354020"/>
                  </a:ext>
                </a:extLst>
              </a:tr>
              <a:tr h="13127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" sz="18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usage.cost</a:t>
                      </a:r>
                      <a:endParaRPr lang="en" sz="1800" b="0" dirty="0">
                        <a:effectLst/>
                        <a:latin typeface="Consolas" panose="020B0609020204030204" pitchFamily="49" charset="0"/>
                        <a:ea typeface="Microsoft YaHei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effectLst/>
                          <a:latin typeface="+mn-ea"/>
                          <a:ea typeface="+mn-ea"/>
                        </a:rPr>
                        <a:t>本次请求花费的金额</a:t>
                      </a:r>
                      <a:endParaRPr lang="zh-CN" altLang="en-US" sz="1800" dirty="0">
                        <a:effectLst/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181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32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48D49-3726-F3E9-951D-591AAE17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Online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9A265B6-A9EC-B386-BD49-CC2DD27F0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toy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caution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key.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Don’t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upload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Concurrency, retries, loops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Tokens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money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Keep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tokens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concise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(unless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reasoning)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Natural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JSON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Unnecessary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chat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history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22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848D49-3726-F3E9-951D-591AAE17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Online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9A265B6-A9EC-B386-BD49-CC2DD27F0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After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that,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cleaning!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Hallucination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format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Low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quality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Privacy</a:t>
            </a:r>
          </a:p>
          <a:p>
            <a:pPr lvl="1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……</a:t>
            </a:r>
          </a:p>
          <a:p>
            <a:pPr lvl="1"/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649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25DAB-7FE4-1387-C66B-6AD17FCF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External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Tools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E9C328-7113-549A-33CF-14BECEE2C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Google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</a:p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Jina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Interpreter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Sandbox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File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Parser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Google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Scholar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0429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8DF00-919D-0F09-6472-38AC55346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Jina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51A6B2-ADF3-4F16-A7C9-634582C52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Web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Reader.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Generate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clean,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structured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stable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content.</a:t>
            </a:r>
          </a:p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v.s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1" lang="en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craper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en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D2B62F8-8727-F542-DCE5-7D7DC2353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323597"/>
              </p:ext>
            </p:extLst>
          </p:nvPr>
        </p:nvGraphicFramePr>
        <p:xfrm>
          <a:off x="2057511" y="2856601"/>
          <a:ext cx="7315089" cy="3893908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445603">
                  <a:extLst>
                    <a:ext uri="{9D8B030D-6E8A-4147-A177-3AD203B41FA5}">
                      <a16:colId xmlns:a16="http://schemas.microsoft.com/office/drawing/2014/main" val="2057446591"/>
                    </a:ext>
                  </a:extLst>
                </a:gridCol>
                <a:gridCol w="3441457">
                  <a:extLst>
                    <a:ext uri="{9D8B030D-6E8A-4147-A177-3AD203B41FA5}">
                      <a16:colId xmlns:a16="http://schemas.microsoft.com/office/drawing/2014/main" val="305911808"/>
                    </a:ext>
                  </a:extLst>
                </a:gridCol>
                <a:gridCol w="2428029">
                  <a:extLst>
                    <a:ext uri="{9D8B030D-6E8A-4147-A177-3AD203B41FA5}">
                      <a16:colId xmlns:a16="http://schemas.microsoft.com/office/drawing/2014/main" val="915584316"/>
                    </a:ext>
                  </a:extLst>
                </a:gridCol>
              </a:tblGrid>
              <a:tr h="4785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zh-CN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9989" marR="9989" marT="9989" marB="9989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自己写爬虫</a:t>
                      </a:r>
                      <a:endParaRPr lang="zh-CN" altLang="en-US" sz="1600" b="1" dirty="0"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9989" marR="9989" marT="9989" marB="9989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" sz="1600" b="1" dirty="0" err="1">
                          <a:effectLst/>
                          <a:latin typeface="+mn-ea"/>
                          <a:ea typeface="+mn-ea"/>
                        </a:rPr>
                        <a:t>Jina</a:t>
                      </a:r>
                      <a:endParaRPr lang="en" sz="1600" b="1" dirty="0">
                        <a:effectLst/>
                        <a:latin typeface="+mn-ea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9989" marR="9989" marT="9989" marB="9989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403180"/>
                  </a:ext>
                </a:extLst>
              </a:tr>
              <a:tr h="2632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开发速度</a:t>
                      </a:r>
                    </a:p>
                  </a:txBody>
                  <a:tcPr marL="9989" marR="9989" marT="9989" marB="99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慢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秒级，一行 </a:t>
                      </a:r>
                      <a:r>
                        <a:rPr lang="en" sz="1600" dirty="0">
                          <a:effectLst/>
                          <a:latin typeface="+mn-ea"/>
                          <a:ea typeface="+mn-ea"/>
                        </a:rPr>
                        <a:t>API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430617"/>
                  </a:ext>
                </a:extLst>
              </a:tr>
              <a:tr h="47856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反爬处理</a:t>
                      </a:r>
                    </a:p>
                  </a:txBody>
                  <a:tcPr marL="9989" marR="9989" marT="9989" marB="99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自己处理（代理、验证码、指纹）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内置，全自动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5246778"/>
                  </a:ext>
                </a:extLst>
              </a:tr>
              <a:tr h="48754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动态页面</a:t>
                      </a:r>
                    </a:p>
                  </a:txBody>
                  <a:tcPr marL="9989" marR="9989" marT="9989" marB="99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需 </a:t>
                      </a:r>
                      <a:r>
                        <a:rPr lang="en" sz="1600" dirty="0">
                          <a:effectLst/>
                          <a:latin typeface="+mn-ea"/>
                          <a:ea typeface="+mn-ea"/>
                        </a:rPr>
                        <a:t>Selenium/Puppeteer，</a:t>
                      </a: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慢且不稳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自动渲染 </a:t>
                      </a:r>
                      <a:r>
                        <a:rPr lang="en" sz="1600" dirty="0">
                          <a:effectLst/>
                          <a:latin typeface="+mn-ea"/>
                          <a:ea typeface="+mn-ea"/>
                        </a:rPr>
                        <a:t>JS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443813"/>
                  </a:ext>
                </a:extLst>
              </a:tr>
              <a:tr h="60162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数据清洗</a:t>
                      </a:r>
                    </a:p>
                  </a:txBody>
                  <a:tcPr marL="9989" marR="9989" marT="9989" marB="99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手动写清洗、去重、结构化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直接输出干净 </a:t>
                      </a:r>
                      <a:r>
                        <a:rPr lang="en" sz="1600" dirty="0">
                          <a:effectLst/>
                          <a:latin typeface="+mn-ea"/>
                          <a:ea typeface="+mn-ea"/>
                        </a:rPr>
                        <a:t>Markdown/JSON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408718"/>
                  </a:ext>
                </a:extLst>
              </a:tr>
              <a:tr h="32473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维护成本</a:t>
                      </a:r>
                    </a:p>
                  </a:txBody>
                  <a:tcPr marL="9989" marR="9989" marT="9989" marB="99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极高（网站一变就崩）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零维护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5824209"/>
                  </a:ext>
                </a:extLst>
              </a:tr>
              <a:tr h="2632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规模化</a:t>
                      </a:r>
                    </a:p>
                  </a:txBody>
                  <a:tcPr marL="9989" marR="9989" marT="9989" marB="99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难，几百站就炸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轻松百万级 </a:t>
                      </a:r>
                      <a:r>
                        <a:rPr lang="en" sz="1600" dirty="0">
                          <a:effectLst/>
                          <a:latin typeface="+mn-ea"/>
                          <a:ea typeface="+mn-ea"/>
                        </a:rPr>
                        <a:t>URL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6996304"/>
                  </a:ext>
                </a:extLst>
              </a:tr>
              <a:tr h="32473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" sz="1600" b="1" dirty="0">
                          <a:effectLst/>
                          <a:latin typeface="+mn-ea"/>
                          <a:ea typeface="+mn-ea"/>
                        </a:rPr>
                        <a:t>LLM </a:t>
                      </a: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友好</a:t>
                      </a:r>
                    </a:p>
                  </a:txBody>
                  <a:tcPr marL="9989" marR="9989" marT="9989" marB="99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差（脏数据、长文本）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极佳（精简、结构化）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5842253"/>
                  </a:ext>
                </a:extLst>
              </a:tr>
              <a:tr h="23244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effectLst/>
                          <a:latin typeface="+mn-ea"/>
                          <a:ea typeface="+mn-ea"/>
                        </a:rPr>
                        <a:t>法律风险</a:t>
                      </a:r>
                    </a:p>
                  </a:txBody>
                  <a:tcPr marL="9989" marR="9989" marT="9989" marB="9989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高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effectLst/>
                          <a:latin typeface="+mn-ea"/>
                          <a:ea typeface="+mn-ea"/>
                        </a:rPr>
                        <a:t>合规抓取</a:t>
                      </a:r>
                    </a:p>
                  </a:txBody>
                  <a:tcPr marL="9989" marR="9989" marT="9989" marB="99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8926124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E3424BD0-AE95-99E7-FA3A-57BBB0AF03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84" r="4737"/>
          <a:stretch/>
        </p:blipFill>
        <p:spPr>
          <a:xfrm>
            <a:off x="9372600" y="157519"/>
            <a:ext cx="2683042" cy="1709311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24" name="Picture 4" descr="网络爬虫| 使用scrapegraph-ai(大模型方案)自动采集网页数据| 大邓和他的PYTHON">
            <a:extLst>
              <a:ext uri="{FF2B5EF4-FFF2-40B4-BE49-F238E27FC236}">
                <a16:creationId xmlns:a16="http://schemas.microsoft.com/office/drawing/2014/main" id="{AD9FD56E-FF89-BB4D-5B0B-A48B319F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050" y="2362911"/>
            <a:ext cx="501769" cy="42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9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D6A4F-4C91-23B4-6801-23700D95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Content</a:t>
            </a:r>
            <a:endParaRPr kumimoji="1" lang="zh-CN" altLang="en-US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AFD580-9520-0FED-7209-FBF41E09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6957" cy="4921164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Online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&amp;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External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Tools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Data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synthesis,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preliminary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experiments,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etc.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Training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Code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Frameworks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Pre-training,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Supervised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Fine-Tuning,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Reinforcement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Learning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Arguments</a:t>
            </a:r>
          </a:p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Inference/Deployment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Past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Present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Implementations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806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Situation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annotated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 dirty="0">
                <a:latin typeface="Calibri" panose="020F0502020204030204" pitchFamily="34" charset="0"/>
                <a:cs typeface="Calibri" panose="020F0502020204030204" pitchFamily="34" charset="0"/>
              </a:rPr>
              <a:t>abundant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resources</a:t>
            </a:r>
          </a:p>
          <a:p>
            <a:r>
              <a:rPr kumimoji="1" lang="en-US" altLang="zh-CN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kumimoji="1" lang="zh-CN" alt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should</a:t>
            </a:r>
            <a:r>
              <a:rPr kumimoji="1" lang="zh-CN" alt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kumimoji="1" lang="zh-CN" alt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</a:t>
            </a:r>
            <a:r>
              <a:rPr kumimoji="1" lang="zh-CN" alt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now?</a:t>
            </a:r>
          </a:p>
        </p:txBody>
      </p:sp>
    </p:spTree>
    <p:extLst>
      <p:ext uri="{BB962C8B-B14F-4D97-AF65-F5344CB8AC3E}">
        <p14:creationId xmlns:p14="http://schemas.microsoft.com/office/powerpoint/2010/main" val="13608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2274B-E2EE-E383-0FF1-D3997C5A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A85769-8BB4-D46D-5745-B97D583D1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past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Manual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setting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Basic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acceleration features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Low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development efficiency</a:t>
            </a:r>
          </a:p>
          <a:p>
            <a:pPr lvl="1"/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409F2E8-0A99-7B5B-E0BF-38006AD38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892" y="1884780"/>
            <a:ext cx="4142855" cy="4608095"/>
          </a:xfrm>
          <a:prstGeom prst="roundRect">
            <a:avLst>
              <a:gd name="adj" fmla="val 3598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27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2274B-E2EE-E383-0FF1-D3997C5A7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A85769-8BB4-D46D-5745-B97D583D1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00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present: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frameworks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Megatron-LM</a:t>
            </a:r>
          </a:p>
          <a:p>
            <a:pPr lvl="1"/>
            <a:r>
              <a:rPr lang="en" altLang="zh-CN" dirty="0">
                <a:latin typeface="+mn-ea"/>
              </a:rPr>
              <a:t>NVIDIA</a:t>
            </a:r>
            <a:r>
              <a:rPr lang="zh-CN" altLang="en-US" dirty="0">
                <a:latin typeface="+mn-ea"/>
              </a:rPr>
              <a:t>开发，工业级、超大规模（百亿～万亿参数）</a:t>
            </a:r>
            <a:r>
              <a:rPr lang="en" altLang="zh-CN" dirty="0">
                <a:latin typeface="+mn-ea"/>
              </a:rPr>
              <a:t>LLM </a:t>
            </a:r>
            <a:r>
              <a:rPr lang="zh-CN" altLang="en-US" dirty="0">
                <a:latin typeface="+mn-ea"/>
              </a:rPr>
              <a:t>预训练 </a:t>
            </a:r>
            <a:r>
              <a:rPr lang="en-US" altLang="zh-CN" dirty="0">
                <a:latin typeface="+mn-ea"/>
              </a:rPr>
              <a:t>/ </a:t>
            </a:r>
            <a:r>
              <a:rPr lang="zh-CN" altLang="en-US" dirty="0">
                <a:latin typeface="+mn-ea"/>
              </a:rPr>
              <a:t>微调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GPU</a:t>
            </a:r>
            <a:r>
              <a:rPr lang="zh-CN" altLang="en-US" dirty="0">
                <a:latin typeface="+mn-ea"/>
              </a:rPr>
              <a:t> 优化加速框架</a:t>
            </a:r>
            <a:endParaRPr lang="en-US" altLang="zh-CN" dirty="0">
              <a:latin typeface="+mn-ea"/>
            </a:endParaRPr>
          </a:p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-swift</a:t>
            </a:r>
          </a:p>
          <a:p>
            <a:pPr lvl="1"/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兼顾中文、多模态模型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响应快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Llama-Factory</a:t>
            </a:r>
          </a:p>
          <a:p>
            <a:pPr lvl="1"/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全训练范式：预训练、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SFT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、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RL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…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PEFT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zh-CN" altLang="en-US" dirty="0">
                <a:latin typeface="+mn-ea"/>
                <a:cs typeface="Calibri" panose="020F0502020204030204" pitchFamily="34" charset="0"/>
              </a:rPr>
              <a:t>支持度高</a:t>
            </a:r>
            <a:endParaRPr kumimoji="1" lang="en-US" altLang="zh-CN" dirty="0">
              <a:latin typeface="+mn-ea"/>
              <a:cs typeface="Calibri" panose="020F0502020204030204" pitchFamily="34" charset="0"/>
            </a:endParaRPr>
          </a:p>
          <a:p>
            <a:pPr lvl="1"/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353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(Llama-Factory)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format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Pre-training</a:t>
            </a:r>
            <a:endParaRPr kumimoji="1" lang="en-US" altLang="zh-CN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SFT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OpenAI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format)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DPO</a:t>
            </a:r>
          </a:p>
          <a:p>
            <a:pPr lvl="1"/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Put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LlamaFactory</a:t>
            </a:r>
            <a:r>
              <a:rPr kumimoji="1"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/data</a:t>
            </a:r>
          </a:p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Modify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dataset_info.json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E0BBA1-BE4C-4259-EE73-656938564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118" y="2003951"/>
            <a:ext cx="1873882" cy="7334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FB6DF6-16A8-9607-3B87-7CB0BC480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395" y="1811591"/>
            <a:ext cx="3540938" cy="3234818"/>
          </a:xfrm>
          <a:prstGeom prst="rect">
            <a:avLst/>
          </a:prstGeom>
        </p:spPr>
      </p:pic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8E734B0-6AA2-1023-869C-34B18F9F681D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176337" y="2370683"/>
            <a:ext cx="1045781" cy="13188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4C983572-ACA7-48E1-E071-F8C9DFC2209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222118" y="2915741"/>
            <a:ext cx="2718277" cy="51325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0E9B77CE-39B5-1058-9FE9-4BB0BF7DE1FF}"/>
              </a:ext>
            </a:extLst>
          </p:cNvPr>
          <p:cNvCxnSpPr/>
          <p:nvPr/>
        </p:nvCxnSpPr>
        <p:spPr>
          <a:xfrm>
            <a:off x="8518359" y="4337450"/>
            <a:ext cx="1118937" cy="0"/>
          </a:xfrm>
          <a:prstGeom prst="line">
            <a:avLst/>
          </a:prstGeom>
          <a:ln w="28575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6BB2303-B29C-9E38-AF23-E85F14B29D1B}"/>
              </a:ext>
            </a:extLst>
          </p:cNvPr>
          <p:cNvSpPr txBox="1"/>
          <p:nvPr/>
        </p:nvSpPr>
        <p:spPr>
          <a:xfrm>
            <a:off x="9543855" y="4329787"/>
            <a:ext cx="58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endParaRPr kumimoji="1" lang="zh-CN" altLang="en-US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66507BA-87DF-1BD7-22CA-07BD54C3D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337" y="3206720"/>
            <a:ext cx="3540937" cy="1367892"/>
          </a:xfrm>
          <a:prstGeom prst="rect">
            <a:avLst/>
          </a:prstGeom>
        </p:spPr>
      </p:pic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40E57105-AE69-70CE-3D65-FCDD6EA5378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194619" y="3296653"/>
            <a:ext cx="981718" cy="594013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80D7E60-448A-CFAA-0CD6-CF07074CC96A}"/>
              </a:ext>
            </a:extLst>
          </p:cNvPr>
          <p:cNvSpPr txBox="1"/>
          <p:nvPr/>
        </p:nvSpPr>
        <p:spPr>
          <a:xfrm>
            <a:off x="7644064" y="6550223"/>
            <a:ext cx="4547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https://github.com/hiyouga/LlamaFactory/tree/main/data</a:t>
            </a:r>
          </a:p>
        </p:txBody>
      </p:sp>
    </p:spTree>
    <p:extLst>
      <p:ext uri="{BB962C8B-B14F-4D97-AF65-F5344CB8AC3E}">
        <p14:creationId xmlns:p14="http://schemas.microsoft.com/office/powerpoint/2010/main" val="148562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(Llama-Factory)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Setting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difficult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one,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PEFT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idea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hyperparameters,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resorting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practice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❌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“我要训个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7B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的模型，超参怎么写？”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✅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“我的任务是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数据量有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模型大小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来源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手头资源有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精度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训练范式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已有经验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上下文长度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LlamaFactory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/examples/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train_lora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/qwen3_lora_sft.yaml</a:t>
            </a:r>
          </a:p>
        </p:txBody>
      </p:sp>
      <p:pic>
        <p:nvPicPr>
          <p:cNvPr id="6146" name="Picture 2" descr="LoRA: Low Rank Adaptation of Large Language Models | by Tayyib Ul Hassan  Gondal | Medium">
            <a:extLst>
              <a:ext uri="{FF2B5EF4-FFF2-40B4-BE49-F238E27FC236}">
                <a16:creationId xmlns:a16="http://schemas.microsoft.com/office/drawing/2014/main" id="{32BBEA0B-0E96-4FD4-FDF4-6B3A8998F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064" y="4973480"/>
            <a:ext cx="2149641" cy="188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1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(Llama-Factory)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3.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Things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happen…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0: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CUDA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(Start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simple)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Half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precision: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fp16,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bf16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checkpointing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 err="1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mirco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batch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size,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accumulation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(if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short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lengths)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PEFT?</a:t>
            </a:r>
          </a:p>
        </p:txBody>
      </p:sp>
    </p:spTree>
    <p:extLst>
      <p:ext uri="{BB962C8B-B14F-4D97-AF65-F5344CB8AC3E}">
        <p14:creationId xmlns:p14="http://schemas.microsoft.com/office/powerpoint/2010/main" val="3724825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(Llama-Factory)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3.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Things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happen…</a:t>
            </a:r>
          </a:p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1: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 loss decreases slowly until the end but does not converge.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 err="1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ckpt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continuing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too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</a:t>
            </a:r>
          </a:p>
        </p:txBody>
      </p:sp>
    </p:spTree>
    <p:extLst>
      <p:ext uri="{BB962C8B-B14F-4D97-AF65-F5344CB8AC3E}">
        <p14:creationId xmlns:p14="http://schemas.microsoft.com/office/powerpoint/2010/main" val="225434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(Llama-Factory)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3.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Things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happen…</a:t>
            </a:r>
          </a:p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2: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explodes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beginning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 loss fluctuates sharply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smaller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Rate,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larger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batch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accumulation</a:t>
            </a:r>
          </a:p>
        </p:txBody>
      </p:sp>
    </p:spTree>
    <p:extLst>
      <p:ext uri="{BB962C8B-B14F-4D97-AF65-F5344CB8AC3E}">
        <p14:creationId xmlns:p14="http://schemas.microsoft.com/office/powerpoint/2010/main" val="318812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(Llama-Factory)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3.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Things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happen…</a:t>
            </a:r>
          </a:p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3: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converges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some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point.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Evaluation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bad.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arbitrary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 dirty="0">
                <a:latin typeface="Calibri" panose="020F0502020204030204" pitchFamily="34" charset="0"/>
                <a:cs typeface="Calibri" panose="020F0502020204030204" pitchFamily="34" charset="0"/>
              </a:rPr>
              <a:t>perspective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overfitting.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However,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depends…</a:t>
            </a:r>
          </a:p>
          <a:p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near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zero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overfitting</a:t>
            </a:r>
          </a:p>
          <a:p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not,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could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</a:p>
          <a:p>
            <a:pPr lvl="1"/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capacity</a:t>
            </a:r>
          </a:p>
          <a:p>
            <a:pPr lvl="1"/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complexity</a:t>
            </a:r>
          </a:p>
          <a:p>
            <a:pPr lvl="1"/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setting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(Try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larger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 err="1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rank,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finetune)</a:t>
            </a:r>
          </a:p>
        </p:txBody>
      </p:sp>
    </p:spTree>
    <p:extLst>
      <p:ext uri="{BB962C8B-B14F-4D97-AF65-F5344CB8AC3E}">
        <p14:creationId xmlns:p14="http://schemas.microsoft.com/office/powerpoint/2010/main" val="131511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(Llama-Factory)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3.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Things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happen…</a:t>
            </a:r>
          </a:p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4: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Worse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might be many reasons…</a:t>
            </a:r>
          </a:p>
          <a:p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too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</a:t>
            </a:r>
          </a:p>
          <a:p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quality/format</a:t>
            </a:r>
          </a:p>
          <a:p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development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</a:p>
          <a:p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Inference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setting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(wrong</a:t>
            </a:r>
            <a:r>
              <a:rPr kumimoji="1" lang="zh-CN" altLang="en-US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tokenizer)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588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(Llama-Factory)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A0B39F-B083-3294-6195-A9FA47A3D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</a:t>
                </a:r>
                <a:r>
                  <a:rPr kumimoji="1"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kumimoji="1"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Things</a:t>
                </a:r>
                <a:r>
                  <a:rPr kumimoji="1"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will</a:t>
                </a:r>
                <a:r>
                  <a:rPr kumimoji="1"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happen…</a:t>
                </a:r>
              </a:p>
              <a:p>
                <a:pPr marL="0" indent="0">
                  <a:buNone/>
                </a:pPr>
                <a:r>
                  <a:rPr kumimoji="1"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kumimoji="1"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∞</m:t>
                    </m:r>
                  </m:oMath>
                </a14:m>
                <a:endParaRPr kumimoji="1" lang="en-US" altLang="zh-CN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We are lucky to have AI</a:t>
                </a:r>
              </a:p>
              <a:p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Check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GitHub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issues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&amp;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community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solutions</a:t>
                </a:r>
              </a:p>
              <a:p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simple</a:t>
                </a:r>
              </a:p>
              <a:p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Isolate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variables,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one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thing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at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time</a:t>
                </a:r>
              </a:p>
              <a:p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Data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&gt;</a:t>
                </a:r>
                <a:r>
                  <a:rPr kumimoji="1" lang="zh-CN" altLang="en-US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CN" dirty="0">
                    <a:solidFill>
                      <a:srgbClr val="92D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Hyperparameters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5A0B39F-B083-3294-6195-A9FA47A3D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652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D6A4F-4C91-23B4-6801-23700D95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Content</a:t>
            </a:r>
            <a:endParaRPr kumimoji="1" lang="zh-CN" altLang="en-US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AFD580-9520-0FED-7209-FBF41E09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6957" cy="4921164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Online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&amp;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External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Tools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Data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synthesis,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preliminary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experiments,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etc.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Training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Code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Frameworks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Pre-training,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Supervised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Fine-Tuning,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Reinforcement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Learning</a:t>
            </a:r>
          </a:p>
          <a:p>
            <a:pPr lvl="1"/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Arguments</a:t>
            </a:r>
          </a:p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Inference/Deployment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Past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and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Present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Implementations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endParaRPr kumimoji="1" lang="en-US" altLang="zh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516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Inference/Deployment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4200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Alright!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now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trained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</a:p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inference</a:t>
            </a:r>
          </a:p>
          <a:p>
            <a:pPr marL="0" indent="0">
              <a:buNone/>
            </a:pP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Past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Load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</a:p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Tokenize</a:t>
            </a: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model.generate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5B0847-A25E-59B0-4928-14F67AD88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840" y="2035124"/>
            <a:ext cx="5164793" cy="4351338"/>
          </a:xfrm>
          <a:prstGeom prst="roundRect">
            <a:avLst>
              <a:gd name="adj" fmla="val 3948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514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Inference/Deployment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Present: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frameworks</a:t>
            </a:r>
          </a:p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vLLM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简单易用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,</a:t>
            </a:r>
            <a:r>
              <a:rPr lang="en" altLang="zh-CN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OpenAI</a:t>
            </a:r>
            <a:r>
              <a:rPr lang="en" altLang="zh-CN" b="0" i="0" dirty="0">
                <a:solidFill>
                  <a:srgbClr val="0F1115"/>
                </a:solidFill>
                <a:effectLst/>
                <a:latin typeface="quote-cjk-patch"/>
              </a:rPr>
              <a:t>-compatible API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,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kumimoji="1" lang="zh-CN" altLang="en-US" dirty="0">
                <a:solidFill>
                  <a:srgbClr val="0F11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社区生态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SGLang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结构化生成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多轮对话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TensorRT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-LLM</a:t>
            </a: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NVIDIA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开发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极致性能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llama.cpp</a:t>
            </a:r>
            <a:endParaRPr kumimoji="1"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C/C++,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local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2773871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53D3-C504-F056-D096-02C9A73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Inference/Deployment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</a:t>
            </a:r>
            <a:r>
              <a:rPr kumimoji="1" lang="en-US" altLang="zh-CN" dirty="0" err="1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vLLM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A0B39F-B083-3294-6195-A9FA47A3D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Launch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server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Visit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IP</a:t>
            </a:r>
          </a:p>
        </p:txBody>
      </p:sp>
    </p:spTree>
    <p:extLst>
      <p:ext uri="{BB962C8B-B14F-4D97-AF65-F5344CB8AC3E}">
        <p14:creationId xmlns:p14="http://schemas.microsoft.com/office/powerpoint/2010/main" val="938463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BAA40-824A-8AB6-1674-555AFB20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Sum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up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Further</a:t>
            </a:r>
            <a:r>
              <a:rPr kumimoji="1"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kumimoji="1"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A43EB1-E486-BE75-E506-1D4592B139D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Online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&amp;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External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Tools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API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Usage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评分、结构化抽取、帮忙读论文总结内容、审核（安全、不当内容）</a:t>
            </a:r>
            <a:endParaRPr kumimoji="1" lang="en-US" altLang="zh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Training</a:t>
            </a:r>
          </a:p>
          <a:p>
            <a:pPr lvl="1">
              <a:lnSpc>
                <a:spcPct val="100000"/>
              </a:lnSpc>
            </a:pPr>
            <a:r>
              <a:rPr kumimoji="1" lang="zh-CN" altLang="en-US" sz="20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指令遵循、风格迁移、蒸馏小模型</a:t>
            </a:r>
            <a:endParaRPr kumimoji="1" lang="en-US" altLang="zh-CN" sz="20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LLM</a:t>
            </a:r>
            <a:r>
              <a:rPr kumimoji="1" lang="zh-CN" altLang="en-US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Inference/Deployment</a:t>
            </a:r>
          </a:p>
          <a:p>
            <a:pPr lvl="1">
              <a:lnSpc>
                <a:spcPct val="100000"/>
              </a:lnSpc>
            </a:pPr>
            <a:r>
              <a:rPr kumimoji="1" lang="zh-CN" altLang="en-US" sz="20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移动端</a:t>
            </a:r>
            <a:r>
              <a:rPr kumimoji="1" lang="en-US" altLang="zh-CN" sz="20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App</a:t>
            </a:r>
            <a:r>
              <a:rPr kumimoji="1" lang="zh-CN" altLang="en-US" sz="2000" dirty="0"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、企业内部部署</a:t>
            </a:r>
            <a:endParaRPr kumimoji="1" lang="en-US" altLang="zh-CN" sz="2000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dirty="0">
              <a:latin typeface="Calibri" panose="020F0502020204030204" pitchFamily="34" charset="0"/>
              <a:ea typeface="Microsoft YaHei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CB8FA6-17F5-D6B8-7316-4B18B31E09F0}"/>
              </a:ext>
            </a:extLst>
          </p:cNvPr>
          <p:cNvSpPr txBox="1"/>
          <p:nvPr/>
        </p:nvSpPr>
        <p:spPr>
          <a:xfrm>
            <a:off x="838200" y="5942568"/>
            <a:ext cx="657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https://github.com/Chord-Chen-30/ShanghaiTech-NLP-Lecture-S26</a:t>
            </a:r>
            <a:endParaRPr lang="en-US" altLang="zh-C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82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2938</TotalTime>
  <Words>1213</Words>
  <Application>Microsoft Macintosh PowerPoint</Application>
  <PresentationFormat>宽屏</PresentationFormat>
  <Paragraphs>245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等线</vt:lpstr>
      <vt:lpstr>等线 Light</vt:lpstr>
      <vt:lpstr>Microsoft YaHei</vt:lpstr>
      <vt:lpstr>quote-cjk-patch</vt:lpstr>
      <vt:lpstr>Arial</vt:lpstr>
      <vt:lpstr>Calibri</vt:lpstr>
      <vt:lpstr>Cambria Math</vt:lpstr>
      <vt:lpstr>Consolas</vt:lpstr>
      <vt:lpstr>Office 主题​​</vt:lpstr>
      <vt:lpstr>LLM Engineering &amp; Practice 大模型工程应用和实践</vt:lpstr>
      <vt:lpstr>Content</vt:lpstr>
      <vt:lpstr>Why these stuff?</vt:lpstr>
      <vt:lpstr>Content</vt:lpstr>
      <vt:lpstr>Online LLM API Usage</vt:lpstr>
      <vt:lpstr>Online LLM API Usage</vt:lpstr>
      <vt:lpstr>Online LLM API Usage</vt:lpstr>
      <vt:lpstr>Online LLM API Usage</vt:lpstr>
      <vt:lpstr>External Tools API Usage</vt:lpstr>
      <vt:lpstr>Jina</vt:lpstr>
      <vt:lpstr>Content</vt:lpstr>
      <vt:lpstr>LLM Training</vt:lpstr>
      <vt:lpstr>LLM Training</vt:lpstr>
      <vt:lpstr>LLM Training</vt:lpstr>
      <vt:lpstr>LLM Training (Llama-Factory)</vt:lpstr>
      <vt:lpstr>LLM Training (Llama-Factory)</vt:lpstr>
      <vt:lpstr>LLM Training (Llama-Factory)</vt:lpstr>
      <vt:lpstr>LLM Training (Llama-Factory)</vt:lpstr>
      <vt:lpstr>LLM Training (Llama-Factory)</vt:lpstr>
      <vt:lpstr>LLM Training (Llama-Factory)</vt:lpstr>
      <vt:lpstr>LLM Training (Llama-Factory)</vt:lpstr>
      <vt:lpstr>LLM Training (Llama-Factory)</vt:lpstr>
      <vt:lpstr>Content</vt:lpstr>
      <vt:lpstr>LLM Inference/Deployment</vt:lpstr>
      <vt:lpstr>LLM Inference/Deployment</vt:lpstr>
      <vt:lpstr>LLM Inference/Deployment (vLLM)</vt:lpstr>
      <vt:lpstr>Sum up &amp; Further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Engineering &amp; Practice 大模型工程应用和实践</dc:title>
  <dc:creator>Microsoft Office User</dc:creator>
  <cp:lastModifiedBy>Microsoft Office User</cp:lastModifiedBy>
  <cp:revision>196</cp:revision>
  <dcterms:created xsi:type="dcterms:W3CDTF">2026-04-10T12:31:06Z</dcterms:created>
  <dcterms:modified xsi:type="dcterms:W3CDTF">2026-04-12T13:31:06Z</dcterms:modified>
</cp:coreProperties>
</file>