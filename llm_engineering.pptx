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55" r:id="rId1"/>
  </p:sldMasterIdLst>
  <p:notesMasterIdLst>
    <p:notesMasterId r:id="rId30"/>
  </p:notesMasterIdLst>
  <p:sldIdLst>
    <p:sldId id="256" r:id="rId2"/>
    <p:sldId id="257" r:id="rId3"/>
    <p:sldId id="258" r:id="rId4"/>
    <p:sldId id="278" r:id="rId5"/>
    <p:sldId id="259" r:id="rId6"/>
    <p:sldId id="260" r:id="rId7"/>
    <p:sldId id="261" r:id="rId8"/>
    <p:sldId id="263" r:id="rId9"/>
    <p:sldId id="264" r:id="rId10"/>
    <p:sldId id="262" r:id="rId11"/>
    <p:sldId id="279" r:id="rId12"/>
    <p:sldId id="268" r:id="rId13"/>
    <p:sldId id="266" r:id="rId14"/>
    <p:sldId id="267" r:id="rId15"/>
    <p:sldId id="270" r:id="rId16"/>
    <p:sldId id="269" r:id="rId17"/>
    <p:sldId id="283" r:id="rId18"/>
    <p:sldId id="271" r:id="rId19"/>
    <p:sldId id="274" r:id="rId20"/>
    <p:sldId id="275" r:id="rId21"/>
    <p:sldId id="272" r:id="rId22"/>
    <p:sldId id="273" r:id="rId23"/>
    <p:sldId id="280" r:id="rId24"/>
    <p:sldId id="281" r:id="rId25"/>
    <p:sldId id="276" r:id="rId26"/>
    <p:sldId id="277" r:id="rId27"/>
    <p:sldId id="282" r:id="rId28"/>
    <p:sldId id="265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3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7853C-536D-4A76-A0AE-DD22124D55A5}" styleName="主题样式 1 - 强调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浅色样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FECB4D8-DB02-4DC6-A0A2-4F2EBAE1DC90}" styleName="中度样式 1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中度样式 1 - 强调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8A107856-5554-42FB-B03E-39F5DBC370BA}" styleName="中度样式 4 - 强调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D03447BB-5D67-496B-8E87-E561075AD55C}" styleName="深色样式 1 - 强调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C083E6E3-FA7D-4D7B-A595-EF9225AFEA82}" styleName="浅色样式 1 - 强调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2DE63D5-997A-4646-A377-4702673A728D}" styleName="浅色样式 2 - 强调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8799B23B-EC83-4686-B30A-512413B5E67A}" styleName="浅色样式 3 - 强调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01"/>
    <p:restoredTop sz="94815"/>
  </p:normalViewPr>
  <p:slideViewPr>
    <p:cSldViewPr snapToGrid="0">
      <p:cViewPr>
        <p:scale>
          <a:sx n="90" d="100"/>
          <a:sy n="90" d="100"/>
        </p:scale>
        <p:origin x="48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BC2160-8E48-5645-B58E-7580964B92A4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00AD62-5F1C-1941-B58F-3F3E66F5EAB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483015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0AD62-5F1C-1941-B58F-3F3E66F5EABF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437306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00AD62-5F1C-1941-B58F-3F3E66F5EABF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75619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FFC9E8-0BC0-D829-5F4E-4BCF23288E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DDB02D1-C4AD-8625-8CF2-A8F1DB7942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A88253D-74DF-398D-0015-66C4BE81E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8CC2182-DA21-B564-8529-153B2E546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81D9E5-70E7-5B16-42F1-60DF965D0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61314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FF1100-EA19-5877-EDF9-985F9BB1A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8E23AB2-B33F-6D47-CB77-9D366BA1E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33F874-50C9-11D4-26DB-9F9FEB4B8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B2A3F7F-91F5-F7D3-7A97-1433681CA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95B1F4B-9725-7BB1-3A32-AB111BC53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06902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0A66D1-D147-9104-E9A0-89D6C7478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5B4E12E-5E79-DF41-B8B3-8F8746E6C2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966363C-2E99-5B94-7509-88538E7E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C257E85-5549-D14A-F43F-81A431D5C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56B102-27C7-9D60-208E-E94B8973F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35495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C087DF-A80F-2DCA-8A33-BA02D6EB2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814554A-3FD1-06B9-B6F4-939E762885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A084A4F-3EEB-712B-49F9-446CA68A97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18A0010-EEEB-F3C9-AF57-784F87014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6F72BFA-3631-77CA-314E-277EC1A3A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37357EC-24B6-46E6-7AC8-466509854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075440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7FE2EA-B825-975E-409B-A40CC466C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6BEBD55-7720-8DBD-5FC9-9494E79E8B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73B647A-0BEC-1E4D-D8F1-ED524159A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431DD73-2162-7CEE-AA29-8ED11C86C3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868621-DB8B-0186-DFD4-8FEA80B5AD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1DBA4EA-863F-6C88-AA16-19160204C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B57F989-29E4-D497-DD5C-FA0A7C80A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99132CB-AD6D-DD13-B2F0-2F4EF1FAF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60678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44F983-7E3B-85CE-16F9-699540559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BFD8D60-550D-4BBE-39BD-2364C6572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4BAA59F-F3F3-6A45-ECCF-21BFDBED86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A286282-2691-79D4-2D35-B91D255EF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3178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24BCED9-42FC-7478-D96F-038BC19B6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0E49D0F-13A2-1F6F-623F-EF9A3799B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A975A33-2D49-5EF0-FBF6-E20BEE0F7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0555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F6FDF6-DE31-4DB9-BB3B-A47ABDEE9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89544C-376A-E0E8-769D-2B9B0730D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66B53B9-4410-EA1D-DC0E-E46F0DBD2D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7F7365-46F1-BE5D-AEAA-0E34E49B0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952F7F4-8C85-516C-2DCE-3D87FA400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66EDFCF-B6F9-5321-0028-9B017D07C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087247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E52BCA-0475-2F4D-2D51-5CF294CBA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8570037-348C-6EB5-085F-85B057DA44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53DA32E-DB3C-13A3-45D7-3BC31EEDF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042D10A-7D98-03A3-3E73-30C6FC34B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341FF37-7B87-292D-34AE-0ADA74D53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A32D4EE-3EB2-5CF2-26A4-1D46A18BD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305308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6440C8-4CC9-7C91-F2B1-E1ACFD4A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F77A0CA-5CDE-DAB2-3CE3-8453A747E9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A90262-37CC-FBE9-58CE-CCC74EE0C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18399BA-2EEA-F58F-B881-2338D88A7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DC4202A-3F72-7412-FE0D-7C6D219E3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54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4743B60-E0AF-9B85-A8A3-DD44E71962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D65FEE3-AAAF-4A8C-3599-3F90AF5733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CE4E01-E309-7C13-F099-354FBDDC3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AB462C-006C-2BE7-98E7-991E0CA2F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2979D7B-41DE-BF1A-734E-801711CE8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84435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5156F74-D334-0AA9-E9EC-297CC79CF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73DD7A-A0F0-564A-E152-4184B85A76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FED2FC-F31D-9681-B19A-79B331E699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328845-6FD2-0E45-BC09-ABE585045D01}" type="datetimeFigureOut">
              <a:rPr kumimoji="1" lang="zh-CN" altLang="en-US" smtClean="0"/>
              <a:t>2026/4/10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CE8CD4-ABB4-FFE5-22F2-8C2CFB9439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9ADACAE-3B97-7B40-DCBB-2E593CB503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C2F4B0-E43C-7B4F-A850-9181127A6D95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79036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gi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github.com/Chord-Chen-30/ShanghaiTech-NLP-Lecture-S26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C60E76-CE37-FCA1-CECE-682D0FBEE2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6822" y="1122363"/>
            <a:ext cx="9531178" cy="2387600"/>
          </a:xfrm>
        </p:spPr>
        <p:txBody>
          <a:bodyPr>
            <a:normAutofit/>
          </a:bodyPr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Engineering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Practice</a:t>
            </a:r>
            <a:b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</a:br>
            <a:r>
              <a:rPr kumimoji="1" lang="zh-CN" altLang="en-US" dirty="0">
                <a:latin typeface="+mn-ea"/>
                <a:ea typeface="+mn-ea"/>
                <a:cs typeface="Calibri" panose="020F0502020204030204" pitchFamily="34" charset="0"/>
              </a:rPr>
              <a:t>大模型工程应用和实践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04DDF23-F799-1F2A-4F74-3424075F0D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2026/4/13</a:t>
            </a:r>
          </a:p>
          <a:p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陈卓</a:t>
            </a:r>
          </a:p>
        </p:txBody>
      </p:sp>
    </p:spTree>
    <p:extLst>
      <p:ext uri="{BB962C8B-B14F-4D97-AF65-F5344CB8AC3E}">
        <p14:creationId xmlns:p14="http://schemas.microsoft.com/office/powerpoint/2010/main" val="11570540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FD6A4F-4C91-23B4-6801-23700D950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Content</a:t>
            </a:r>
            <a:endParaRPr kumimoji="1" lang="zh-CN" altLang="en-US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AFD580-9520-0FED-7209-FBF41E098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46957" cy="4921164"/>
          </a:xfrm>
        </p:spPr>
        <p:txBody>
          <a:bodyPr>
            <a:normAutofit/>
          </a:bodyPr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External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Tools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synthesis,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preliminary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experiments,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etc.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Training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Frameworks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Arguments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study</a:t>
            </a:r>
          </a:p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Past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and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Present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Implementations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pPr marL="457200" lvl="1" indent="0">
              <a:buNone/>
            </a:pP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Why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these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stuff?</a:t>
            </a:r>
            <a:endParaRPr kumimoji="1" lang="zh-CN" altLang="en-US" dirty="0">
              <a:solidFill>
                <a:schemeClr val="accent2"/>
              </a:solidFill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884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830346-0B73-A8A0-6C66-32EF7CC53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Why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these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stuff?</a:t>
            </a:r>
            <a:endParaRPr kumimoji="1" lang="zh-CN" altLang="en-US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274D4D19-31E8-BD18-FFAF-FAA2979E45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1992228"/>
            <a:ext cx="1677730" cy="1677730"/>
          </a:xfr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101C06D7-52D6-2B3D-BA23-8610A708B81C}"/>
              </a:ext>
            </a:extLst>
          </p:cNvPr>
          <p:cNvSpPr txBox="1"/>
          <p:nvPr/>
        </p:nvSpPr>
        <p:spPr>
          <a:xfrm>
            <a:off x="2515929" y="2246211"/>
            <a:ext cx="35800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老板：</a:t>
            </a:r>
            <a:endParaRPr kumimoji="1" lang="en-US" altLang="zh-CN" dirty="0">
              <a:latin typeface="+mn-ea"/>
              <a:cs typeface="Calibri" panose="020F0502020204030204" pitchFamily="34" charset="0"/>
            </a:endParaRPr>
          </a:p>
          <a:p>
            <a:endParaRPr kumimoji="1" lang="en-US" altLang="zh-CN" dirty="0">
              <a:latin typeface="+mn-ea"/>
              <a:cs typeface="Calibri" panose="020F0502020204030204" pitchFamily="34" charset="0"/>
            </a:endParaRPr>
          </a:p>
          <a:p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去！训个模型，让它能按照我们公司的要求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/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政策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/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话术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/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语言风格，回复客户消息。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9467A9DC-7384-2B4F-BE1D-40E91F9A13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7128" y="3971497"/>
            <a:ext cx="1676672" cy="147547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75C3F82D-5022-F83C-5F0F-1100AADA61C7}"/>
              </a:ext>
            </a:extLst>
          </p:cNvPr>
          <p:cNvSpPr txBox="1"/>
          <p:nvPr/>
        </p:nvSpPr>
        <p:spPr>
          <a:xfrm>
            <a:off x="5535827" y="3832069"/>
            <a:ext cx="40424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我们：</a:t>
            </a:r>
            <a:endParaRPr kumimoji="1" lang="en-US" altLang="zh-CN" dirty="0">
              <a:latin typeface="+mn-ea"/>
              <a:cs typeface="Calibri" panose="020F0502020204030204" pitchFamily="34" charset="0"/>
            </a:endParaRPr>
          </a:p>
          <a:p>
            <a:endParaRPr kumimoji="1" lang="en-US" altLang="zh-CN" dirty="0">
              <a:latin typeface="+mn-ea"/>
              <a:cs typeface="Calibri" panose="020F0502020204030204" pitchFamily="34" charset="0"/>
            </a:endParaRPr>
          </a:p>
          <a:p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浏览器打开 豆包、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Gemini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、 </a:t>
            </a:r>
            <a:r>
              <a:rPr kumimoji="1" lang="en-US" altLang="zh-CN" dirty="0" err="1">
                <a:latin typeface="+mn-ea"/>
                <a:cs typeface="Calibri" panose="020F0502020204030204" pitchFamily="34" charset="0"/>
              </a:rPr>
              <a:t>DeepSeek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、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GPT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，一通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prompt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engineering……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634247C-6B92-1844-55CC-3DBCE84371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46" t="12009" r="28436" b="10525"/>
          <a:stretch/>
        </p:blipFill>
        <p:spPr bwMode="auto">
          <a:xfrm>
            <a:off x="467096" y="5953595"/>
            <a:ext cx="716692" cy="679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482DBCE6-CCF4-F2BA-E477-08A4918896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2641" y="5916524"/>
            <a:ext cx="716692" cy="716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50EB3A2B-C4E1-246F-1909-D55F9FCCC5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5829" y="5854739"/>
            <a:ext cx="860199" cy="856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4C67B876-946D-FA79-45B4-241489876FE5}"/>
              </a:ext>
            </a:extLst>
          </p:cNvPr>
          <p:cNvSpPr txBox="1"/>
          <p:nvPr/>
        </p:nvSpPr>
        <p:spPr>
          <a:xfrm>
            <a:off x="2901373" y="6071709"/>
            <a:ext cx="60491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：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【</a:t>
            </a:r>
            <a:r>
              <a:rPr lang="zh-CN" altLang="en-US" dirty="0">
                <a:latin typeface="+mn-ea"/>
              </a:rPr>
              <a:t>东拉西扯一堆废话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】【</a:t>
            </a:r>
            <a:r>
              <a:rPr lang="zh-CN" altLang="en-US" dirty="0">
                <a:latin typeface="+mn-ea"/>
              </a:rPr>
              <a:t>“你可以查阅相关规定。”</a:t>
            </a:r>
            <a:r>
              <a:rPr kumimoji="1" lang="en-US" altLang="zh-CN" dirty="0">
                <a:latin typeface="+mn-ea"/>
                <a:cs typeface="Calibri" panose="020F0502020204030204" pitchFamily="34" charset="0"/>
              </a:rPr>
              <a:t>】</a:t>
            </a:r>
            <a:r>
              <a:rPr lang="zh-CN" altLang="en-US" dirty="0">
                <a:latin typeface="+mn-ea"/>
              </a:rPr>
              <a:t>抱歉，我无法执行该操作。</a:t>
            </a:r>
            <a:endParaRPr kumimoji="1" lang="zh-CN" altLang="en-US" dirty="0">
              <a:latin typeface="+mn-ea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09157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0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FD6A4F-4C91-23B4-6801-23700D950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Content</a:t>
            </a:r>
            <a:endParaRPr kumimoji="1" lang="zh-CN" altLang="en-US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AFD580-9520-0FED-7209-FBF41E098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46957" cy="4921164"/>
          </a:xfrm>
        </p:spPr>
        <p:txBody>
          <a:bodyPr>
            <a:normAutofit/>
          </a:bodyPr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External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Tools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synthesis,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preliminary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experiments,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etc.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Training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Frameworks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Arguments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study</a:t>
            </a:r>
          </a:p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Past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and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Present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Implementations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solidFill>
                <a:schemeClr val="bg1">
                  <a:lumMod val="75000"/>
                </a:schemeClr>
              </a:solidFill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4627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3EBCB6-7E8A-A216-F9B2-AE3D25CBB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612758E-142C-2D23-035A-2D75A45F03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当想利用强模型制作一批数据，限制：闭源、资源不足以部署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……</a:t>
            </a:r>
          </a:p>
          <a:p>
            <a:pPr marL="0" indent="0">
              <a:buNone/>
            </a:pP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OpenAI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" altLang="zh-CN" dirty="0">
                <a:latin typeface="Calibri" panose="020F0502020204030204" pitchFamily="34" charset="0"/>
                <a:cs typeface="Calibri" panose="020F0502020204030204" pitchFamily="34" charset="0"/>
              </a:rPr>
              <a:t>Anthropic</a:t>
            </a: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OpenRouter</a:t>
            </a:r>
            <a:endParaRPr kumimoji="1" lang="en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Ofox.ai</a:t>
            </a:r>
            <a:endParaRPr lang="en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阿里云</a:t>
            </a:r>
            <a:endParaRPr kumimoji="1" lang="en-US" altLang="zh-CN" dirty="0">
              <a:latin typeface="+mn-ea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……</a:t>
            </a:r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82CC1C8D-AA09-44A7-17FE-2B4E66C28906}"/>
              </a:ext>
            </a:extLst>
          </p:cNvPr>
          <p:cNvGrpSpPr/>
          <p:nvPr/>
        </p:nvGrpSpPr>
        <p:grpSpPr>
          <a:xfrm>
            <a:off x="3098800" y="3708400"/>
            <a:ext cx="2671301" cy="635000"/>
            <a:chOff x="4277360" y="3688080"/>
            <a:chExt cx="2671301" cy="635000"/>
          </a:xfrm>
        </p:grpSpPr>
        <p:pic>
          <p:nvPicPr>
            <p:cNvPr id="5" name="图形 4" descr="程序员">
              <a:extLst>
                <a:ext uri="{FF2B5EF4-FFF2-40B4-BE49-F238E27FC236}">
                  <a16:creationId xmlns:a16="http://schemas.microsoft.com/office/drawing/2014/main" id="{395E15F7-AAD8-E630-C239-6CD6B83086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277360" y="3688080"/>
              <a:ext cx="635000" cy="635000"/>
            </a:xfrm>
            <a:prstGeom prst="rect">
              <a:avLst/>
            </a:prstGeom>
          </p:spPr>
        </p:pic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C12E109C-2210-8CBB-69A0-50DF0F81058A}"/>
                </a:ext>
              </a:extLst>
            </p:cNvPr>
            <p:cNvSpPr txBox="1"/>
            <p:nvPr/>
          </p:nvSpPr>
          <p:spPr>
            <a:xfrm>
              <a:off x="4836160" y="3820914"/>
              <a:ext cx="21125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Let’s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see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the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code.</a:t>
              </a:r>
              <a:endParaRPr kumimoji="1" lang="zh-CN" altLang="en-US" sz="20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0550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848D49-3726-F3E9-951D-591AAE177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  <a:endParaRPr kumimoji="1" lang="zh-CN" altLang="en-US" dirty="0"/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61901737-3BE9-2FBC-ED88-B994E768A4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7975065"/>
              </p:ext>
            </p:extLst>
          </p:nvPr>
        </p:nvGraphicFramePr>
        <p:xfrm>
          <a:off x="1737625" y="2147888"/>
          <a:ext cx="7695134" cy="3629153"/>
        </p:xfrm>
        <a:graphic>
          <a:graphicData uri="http://schemas.openxmlformats.org/drawingml/2006/table">
            <a:tbl>
              <a:tblPr bandRow="1">
                <a:tableStyleId>{1FECB4D8-DB02-4DC6-A0A2-4F2EBAE1DC90}</a:tableStyleId>
              </a:tblPr>
              <a:tblGrid>
                <a:gridCol w="3207354">
                  <a:extLst>
                    <a:ext uri="{9D8B030D-6E8A-4147-A177-3AD203B41FA5}">
                      <a16:colId xmlns:a16="http://schemas.microsoft.com/office/drawing/2014/main" val="3189516510"/>
                    </a:ext>
                  </a:extLst>
                </a:gridCol>
                <a:gridCol w="4487780">
                  <a:extLst>
                    <a:ext uri="{9D8B030D-6E8A-4147-A177-3AD203B41FA5}">
                      <a16:colId xmlns:a16="http://schemas.microsoft.com/office/drawing/2014/main" val="369848824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id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唯一标识 </a:t>
                      </a:r>
                      <a:r>
                        <a:rPr lang="en" sz="1800" dirty="0">
                          <a:effectLst/>
                          <a:latin typeface="+mn-ea"/>
                          <a:ea typeface="+mn-ea"/>
                        </a:rPr>
                        <a:t>ID（</a:t>
                      </a: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用于日志、排查问题）</a:t>
                      </a:r>
                      <a:endParaRPr lang="zh-CN" altLang="en-US" sz="1800" dirty="0">
                        <a:effectLst/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79714547"/>
                  </a:ext>
                </a:extLst>
              </a:tr>
              <a:tr h="34269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model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模型名称（ </a:t>
                      </a:r>
                      <a:r>
                        <a:rPr lang="en" sz="1800" dirty="0" err="1">
                          <a:effectLst/>
                          <a:latin typeface="+mn-ea"/>
                          <a:ea typeface="+mn-ea"/>
                        </a:rPr>
                        <a:t>OpenRouter</a:t>
                      </a:r>
                      <a:r>
                        <a:rPr lang="en" sz="1800" dirty="0"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命名）</a:t>
                      </a:r>
                      <a:endParaRPr lang="zh-CN" altLang="en-US" sz="1800" dirty="0">
                        <a:effectLst/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25664121"/>
                  </a:ext>
                </a:extLst>
              </a:tr>
              <a:tr h="205891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choices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模型输出列表（通常只有一条结果）</a:t>
                      </a:r>
                      <a:endParaRPr lang="en-US" altLang="zh-CN" sz="1800" dirty="0">
                        <a:effectLst/>
                        <a:latin typeface="+mn-ea"/>
                        <a:ea typeface="+mn-ea"/>
                      </a:endParaRPr>
                    </a:p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  <a:cs typeface="Calibri" panose="020F0502020204030204" pitchFamily="34" charset="0"/>
                        </a:rPr>
                        <a:t>也许同时包含 </a:t>
                      </a:r>
                      <a:r>
                        <a:rPr lang="en-US" altLang="zh-CN" sz="1800" dirty="0">
                          <a:effectLst/>
                          <a:latin typeface="+mn-ea"/>
                          <a:ea typeface="+mn-ea"/>
                          <a:cs typeface="Calibri" panose="020F0502020204030204" pitchFamily="34" charset="0"/>
                        </a:rPr>
                        <a:t>reasoning</a:t>
                      </a: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  <a:cs typeface="Calibri" panose="020F0502020204030204" pitchFamily="34" charset="0"/>
                        </a:rPr>
                        <a:t> 内容</a:t>
                      </a: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20993568"/>
                  </a:ext>
                </a:extLst>
              </a:tr>
              <a:tr h="24320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usage.prompt_tokens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输入消耗的 </a:t>
                      </a:r>
                      <a:r>
                        <a:rPr lang="en" sz="1800" dirty="0">
                          <a:effectLst/>
                          <a:latin typeface="+mn-ea"/>
                          <a:ea typeface="+mn-ea"/>
                        </a:rPr>
                        <a:t>token </a:t>
                      </a: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数</a:t>
                      </a:r>
                      <a:endParaRPr lang="zh-CN" altLang="en-US" sz="1800" dirty="0">
                        <a:effectLst/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20452185"/>
                  </a:ext>
                </a:extLst>
              </a:tr>
              <a:tr h="292945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usage.completion_tokens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输出消耗的 </a:t>
                      </a:r>
                      <a:r>
                        <a:rPr lang="en" sz="1800" dirty="0">
                          <a:effectLst/>
                          <a:latin typeface="+mn-ea"/>
                          <a:ea typeface="+mn-ea"/>
                        </a:rPr>
                        <a:t>token </a:t>
                      </a: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数</a:t>
                      </a:r>
                      <a:endParaRPr lang="zh-CN" altLang="en-US" sz="1800" dirty="0">
                        <a:effectLst/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31076266"/>
                  </a:ext>
                </a:extLst>
              </a:tr>
              <a:tr h="23076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usage.total_tokens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本次请求总 </a:t>
                      </a:r>
                      <a:r>
                        <a:rPr lang="en" sz="1800" dirty="0">
                          <a:effectLst/>
                          <a:latin typeface="+mn-ea"/>
                          <a:ea typeface="+mn-ea"/>
                        </a:rPr>
                        <a:t>token </a:t>
                      </a: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数</a:t>
                      </a:r>
                      <a:endParaRPr lang="zh-CN" altLang="en-US" sz="1800" dirty="0">
                        <a:effectLst/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43354020"/>
                  </a:ext>
                </a:extLst>
              </a:tr>
              <a:tr h="13127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800" dirty="0" err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usage.cost</a:t>
                      </a:r>
                      <a:endParaRPr lang="en" sz="1800" b="0" dirty="0">
                        <a:effectLst/>
                        <a:latin typeface="Consolas" panose="020B0609020204030204" pitchFamily="49" charset="0"/>
                        <a:ea typeface="Microsoft YaHei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800" dirty="0">
                          <a:effectLst/>
                          <a:latin typeface="+mn-ea"/>
                          <a:ea typeface="+mn-ea"/>
                        </a:rPr>
                        <a:t>本次请求花费的金额</a:t>
                      </a:r>
                      <a:endParaRPr lang="zh-CN" altLang="en-US" sz="1800" dirty="0">
                        <a:effectLst/>
                        <a:latin typeface="+mn-ea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31815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81320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848D49-3726-F3E9-951D-591AAE177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  <a:endParaRPr kumimoji="1"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39A265B6-A9EC-B386-BD49-CC2DD27F00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Suggestions</a:t>
            </a:r>
          </a:p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Start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toy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examples</a:t>
            </a:r>
          </a:p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caution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your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key.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Don’t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upload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GitHub</a:t>
            </a:r>
          </a:p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Concurrency, retries, loops</a:t>
            </a:r>
          </a:p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Token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money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Keep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tokens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concise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(unless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need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reasoning)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Natural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Language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JSON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Unnecessary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chat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history</a:t>
            </a:r>
            <a:endParaRPr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82251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525DAB-7FE4-1387-C66B-6AD17FCFA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External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Tools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3E9C328-7113-549A-33CF-14BECEE2C8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Google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Search</a:t>
            </a: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Jina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Interpreter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Sandbox</a:t>
            </a:r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Image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Search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File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Parser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Google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Scholar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04297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18DF00-919D-0F09-6472-38AC55346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Jina</a:t>
            </a:r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51A6B2-ADF3-4F16-A7C9-634582C52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Web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Reader.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Generate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clean,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structured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and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stable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content.</a:t>
            </a: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v.s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</a:t>
            </a:r>
            <a:r>
              <a:rPr kumimoji="1" lang="en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craper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kumimoji="1" lang="en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D2B62F8-8727-F542-DCE5-7D7DC2353A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5747607"/>
              </p:ext>
            </p:extLst>
          </p:nvPr>
        </p:nvGraphicFramePr>
        <p:xfrm>
          <a:off x="2057511" y="2989642"/>
          <a:ext cx="7315089" cy="287898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1445603">
                  <a:extLst>
                    <a:ext uri="{9D8B030D-6E8A-4147-A177-3AD203B41FA5}">
                      <a16:colId xmlns:a16="http://schemas.microsoft.com/office/drawing/2014/main" val="2057446591"/>
                    </a:ext>
                  </a:extLst>
                </a:gridCol>
                <a:gridCol w="3441457">
                  <a:extLst>
                    <a:ext uri="{9D8B030D-6E8A-4147-A177-3AD203B41FA5}">
                      <a16:colId xmlns:a16="http://schemas.microsoft.com/office/drawing/2014/main" val="305911808"/>
                    </a:ext>
                  </a:extLst>
                </a:gridCol>
                <a:gridCol w="2428029">
                  <a:extLst>
                    <a:ext uri="{9D8B030D-6E8A-4147-A177-3AD203B41FA5}">
                      <a16:colId xmlns:a16="http://schemas.microsoft.com/office/drawing/2014/main" val="915584316"/>
                    </a:ext>
                  </a:extLst>
                </a:gridCol>
              </a:tblGrid>
              <a:tr h="47856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endParaRPr lang="zh-CN" altLang="en-US" sz="16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自己写爬虫</a:t>
                      </a:r>
                      <a:endParaRPr lang="zh-CN" altLang="en-US" sz="1600" b="1" dirty="0">
                        <a:effectLst/>
                        <a:latin typeface="+mn-ea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 marL="9989" marR="9989" marT="9989" marB="9989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" sz="1600" b="1" dirty="0" err="1">
                          <a:effectLst/>
                          <a:latin typeface="+mn-ea"/>
                          <a:ea typeface="+mn-ea"/>
                        </a:rPr>
                        <a:t>Jina</a:t>
                      </a:r>
                      <a:endParaRPr lang="en" sz="1600" b="1" dirty="0">
                        <a:effectLst/>
                        <a:latin typeface="+mn-ea"/>
                        <a:ea typeface="+mn-ea"/>
                        <a:cs typeface="Consolas" panose="020B0609020204030204" pitchFamily="49" charset="0"/>
                      </a:endParaRPr>
                    </a:p>
                  </a:txBody>
                  <a:tcPr marL="9989" marR="9989" marT="9989" marB="9989" anchor="ctr">
                    <a:lnL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0403180"/>
                  </a:ext>
                </a:extLst>
              </a:tr>
              <a:tr h="26320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开发速度</a:t>
                      </a: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慢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秒级，一行 </a:t>
                      </a:r>
                      <a:r>
                        <a:rPr lang="en" sz="1600" dirty="0">
                          <a:effectLst/>
                          <a:latin typeface="+mn-ea"/>
                          <a:ea typeface="+mn-ea"/>
                        </a:rPr>
                        <a:t>API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430617"/>
                  </a:ext>
                </a:extLst>
              </a:tr>
              <a:tr h="478562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反爬处理</a:t>
                      </a: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自己处理（代理、验证码、指纹）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内置，全自动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95246778"/>
                  </a:ext>
                </a:extLst>
              </a:tr>
              <a:tr h="487543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动态页面</a:t>
                      </a: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需 </a:t>
                      </a:r>
                      <a:r>
                        <a:rPr lang="en" sz="1600" dirty="0">
                          <a:effectLst/>
                          <a:latin typeface="+mn-ea"/>
                          <a:ea typeface="+mn-ea"/>
                        </a:rPr>
                        <a:t>Selenium/Puppeteer，</a:t>
                      </a: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慢且不稳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自动渲染 </a:t>
                      </a:r>
                      <a:r>
                        <a:rPr lang="en" sz="1600" dirty="0">
                          <a:effectLst/>
                          <a:latin typeface="+mn-ea"/>
                          <a:ea typeface="+mn-ea"/>
                        </a:rPr>
                        <a:t>JS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69443813"/>
                  </a:ext>
                </a:extLst>
              </a:tr>
              <a:tr h="388540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输出格式</a:t>
                      </a: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手动写清洗、去重、结构化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输出干净 </a:t>
                      </a:r>
                      <a:r>
                        <a:rPr lang="en" sz="1600" dirty="0">
                          <a:effectLst/>
                          <a:latin typeface="+mn-ea"/>
                          <a:ea typeface="+mn-ea"/>
                        </a:rPr>
                        <a:t>Markdown/JSON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1408718"/>
                  </a:ext>
                </a:extLst>
              </a:tr>
              <a:tr h="3247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维护成本</a:t>
                      </a: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网站一变就崩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零维护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5824209"/>
                  </a:ext>
                </a:extLst>
              </a:tr>
              <a:tr h="32473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en" sz="1600" b="1" dirty="0">
                          <a:effectLst/>
                          <a:latin typeface="+mn-ea"/>
                          <a:ea typeface="+mn-ea"/>
                        </a:rPr>
                        <a:t>LLM </a:t>
                      </a:r>
                      <a:r>
                        <a:rPr lang="zh-CN" altLang="en-US" sz="1600" b="1" dirty="0">
                          <a:effectLst/>
                          <a:latin typeface="+mn-ea"/>
                          <a:ea typeface="+mn-ea"/>
                        </a:rPr>
                        <a:t>友好</a:t>
                      </a:r>
                    </a:p>
                  </a:txBody>
                  <a:tcPr marL="9989" marR="9989" marT="9989" marB="9989" anchor="ctr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脏数据、长文本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r>
                        <a:rPr lang="zh-CN" altLang="en-US" sz="1600" dirty="0">
                          <a:effectLst/>
                          <a:latin typeface="+mn-ea"/>
                          <a:ea typeface="+mn-ea"/>
                        </a:rPr>
                        <a:t>精简、结构化</a:t>
                      </a:r>
                    </a:p>
                  </a:txBody>
                  <a:tcPr marL="9989" marR="9989" marT="9989" marB="998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85842253"/>
                  </a:ext>
                </a:extLst>
              </a:tr>
            </a:tbl>
          </a:graphicData>
        </a:graphic>
      </p:graphicFrame>
      <p:pic>
        <p:nvPicPr>
          <p:cNvPr id="8" name="图片 7">
            <a:extLst>
              <a:ext uri="{FF2B5EF4-FFF2-40B4-BE49-F238E27FC236}">
                <a16:creationId xmlns:a16="http://schemas.microsoft.com/office/drawing/2014/main" id="{E3424BD0-AE95-99E7-FA3A-57BBB0AF03B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884" r="4737"/>
          <a:stretch/>
        </p:blipFill>
        <p:spPr>
          <a:xfrm>
            <a:off x="9372600" y="157519"/>
            <a:ext cx="2683042" cy="1709311"/>
          </a:xfrm>
          <a:prstGeom prst="round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124" name="Picture 4" descr="网络爬虫| 使用scrapegraph-ai(大模型方案)自动采集网页数据| 大邓和他的PYTHON">
            <a:extLst>
              <a:ext uri="{FF2B5EF4-FFF2-40B4-BE49-F238E27FC236}">
                <a16:creationId xmlns:a16="http://schemas.microsoft.com/office/drawing/2014/main" id="{AD9FD56E-FF89-BB4D-5B0B-A48B319F92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3050" y="2362911"/>
            <a:ext cx="501769" cy="426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44F01EB7-ED48-4DE9-FED8-D3788528B123}"/>
              </a:ext>
            </a:extLst>
          </p:cNvPr>
          <p:cNvGrpSpPr/>
          <p:nvPr/>
        </p:nvGrpSpPr>
        <p:grpSpPr>
          <a:xfrm>
            <a:off x="1869440" y="609324"/>
            <a:ext cx="2671301" cy="635000"/>
            <a:chOff x="4277360" y="3688080"/>
            <a:chExt cx="2671301" cy="635000"/>
          </a:xfrm>
        </p:grpSpPr>
        <p:pic>
          <p:nvPicPr>
            <p:cNvPr id="10" name="图形 9" descr="程序员">
              <a:extLst>
                <a:ext uri="{FF2B5EF4-FFF2-40B4-BE49-F238E27FC236}">
                  <a16:creationId xmlns:a16="http://schemas.microsoft.com/office/drawing/2014/main" id="{D8AF5FFD-B7A4-51B8-EEA6-F84D980E2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77360" y="3688080"/>
              <a:ext cx="635000" cy="635000"/>
            </a:xfrm>
            <a:prstGeom prst="rect">
              <a:avLst/>
            </a:prstGeom>
          </p:spPr>
        </p:pic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B0638284-A17B-7790-2C27-ADDC151F66A2}"/>
                </a:ext>
              </a:extLst>
            </p:cNvPr>
            <p:cNvSpPr txBox="1"/>
            <p:nvPr/>
          </p:nvSpPr>
          <p:spPr>
            <a:xfrm>
              <a:off x="4836160" y="3820914"/>
              <a:ext cx="21125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Let’s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see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the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code.</a:t>
              </a:r>
              <a:endParaRPr kumimoji="1" lang="zh-CN" altLang="en-US" sz="20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190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848D49-3726-F3E9-951D-591AAE177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  <a:endParaRPr kumimoji="1"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39A265B6-A9EC-B386-BD49-CC2DD27F00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After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that,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before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</a:p>
          <a:p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cleaning!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Hallucination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Error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format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Low</a:t>
            </a:r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quality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Privacy</a:t>
            </a: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……</a:t>
            </a:r>
          </a:p>
          <a:p>
            <a:pPr lvl="1"/>
            <a:endParaRPr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649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FD6A4F-4C91-23B4-6801-23700D950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Content</a:t>
            </a:r>
            <a:endParaRPr kumimoji="1" lang="zh-CN" altLang="en-US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AFD580-9520-0FED-7209-FBF41E098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46957" cy="4921164"/>
          </a:xfrm>
        </p:spPr>
        <p:txBody>
          <a:bodyPr>
            <a:normAutofit/>
          </a:bodyPr>
          <a:lstStyle/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External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Tools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synthesis,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preliminary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experiments,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etc.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solidFill>
                <a:schemeClr val="bg1">
                  <a:lumMod val="75000"/>
                </a:schemeClr>
              </a:solidFill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Training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Frameworks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Arguments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study</a:t>
            </a:r>
          </a:p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Past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and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Present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Implementations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solidFill>
                <a:schemeClr val="bg1">
                  <a:lumMod val="75000"/>
                </a:schemeClr>
              </a:solidFill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9806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Situation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annotated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set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</a:p>
          <a:p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should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do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now?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kumimoji="1" lang="zh-CN" altLang="en-US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scratch?</a:t>
            </a:r>
          </a:p>
        </p:txBody>
      </p:sp>
    </p:spTree>
    <p:extLst>
      <p:ext uri="{BB962C8B-B14F-4D97-AF65-F5344CB8AC3E}">
        <p14:creationId xmlns:p14="http://schemas.microsoft.com/office/powerpoint/2010/main" val="136080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D2274B-E2EE-E383-0FF1-D3997C5A7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2A85769-8BB4-D46D-5745-B97D583D18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past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Manual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setting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Basic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acceleration features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Low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development efficiency</a:t>
            </a:r>
          </a:p>
          <a:p>
            <a:pPr lvl="1"/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F409F2E8-0A99-7B5B-E0BF-38006AD38C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6892" y="1884780"/>
            <a:ext cx="4142855" cy="4608095"/>
          </a:xfrm>
          <a:prstGeom prst="roundRect">
            <a:avLst>
              <a:gd name="adj" fmla="val 3598"/>
            </a:avLst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82766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D2274B-E2EE-E383-0FF1-D3997C5A7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2A85769-8BB4-D46D-5745-B97D583D1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9000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present: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frameworks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Megatron-LM</a:t>
            </a:r>
          </a:p>
          <a:p>
            <a:pPr lvl="1"/>
            <a:r>
              <a:rPr lang="en" altLang="zh-CN" dirty="0">
                <a:latin typeface="Calibri" panose="020F0502020204030204" pitchFamily="34" charset="0"/>
                <a:cs typeface="Calibri" panose="020F0502020204030204" pitchFamily="34" charset="0"/>
              </a:rPr>
              <a:t>NVIDIA</a:t>
            </a:r>
            <a:r>
              <a:rPr lang="zh-CN" altLang="en-US" dirty="0">
                <a:latin typeface="+mn-ea"/>
              </a:rPr>
              <a:t> 开发，工业级、超大规模（百亿～万亿参数）</a:t>
            </a:r>
            <a:r>
              <a:rPr lang="en" altLang="zh-CN" dirty="0">
                <a:latin typeface="+mn-ea"/>
              </a:rPr>
              <a:t>LLM </a:t>
            </a:r>
            <a:r>
              <a:rPr lang="zh-CN" altLang="en-US" dirty="0">
                <a:latin typeface="+mn-ea"/>
              </a:rPr>
              <a:t>预训练 </a:t>
            </a:r>
            <a:r>
              <a:rPr lang="en-US" altLang="zh-CN" dirty="0">
                <a:latin typeface="+mn-ea"/>
              </a:rPr>
              <a:t>/ </a:t>
            </a:r>
            <a:r>
              <a:rPr lang="zh-CN" altLang="en-US" dirty="0">
                <a:latin typeface="+mn-ea"/>
              </a:rPr>
              <a:t>微调</a:t>
            </a:r>
            <a:endParaRPr lang="en-US" altLang="zh-CN" dirty="0">
              <a:latin typeface="+mn-ea"/>
            </a:endParaRPr>
          </a:p>
          <a:p>
            <a:pPr lvl="1"/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GPU</a:t>
            </a:r>
            <a:r>
              <a:rPr lang="zh-CN" altLang="en-US" dirty="0">
                <a:latin typeface="+mn-ea"/>
              </a:rPr>
              <a:t> 优化加速框架</a:t>
            </a:r>
            <a:endParaRPr lang="en-US" altLang="zh-CN" dirty="0">
              <a:latin typeface="+mn-ea"/>
            </a:endParaRP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ms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-swift</a:t>
            </a:r>
          </a:p>
          <a:p>
            <a:pPr lvl="1"/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兼顾中文、多模态模型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GitHub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Issue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响应快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Llama-Factory</a:t>
            </a:r>
          </a:p>
          <a:p>
            <a:pPr lvl="1"/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全训练范式：预训练、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SFT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、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RL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…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PEFT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zh-CN" altLang="en-US" dirty="0">
                <a:latin typeface="+mn-ea"/>
                <a:cs typeface="Calibri" panose="020F0502020204030204" pitchFamily="34" charset="0"/>
              </a:rPr>
              <a:t>支持度高</a:t>
            </a:r>
            <a:endParaRPr kumimoji="1" lang="en-US" altLang="zh-CN" dirty="0">
              <a:latin typeface="+mn-ea"/>
              <a:cs typeface="Calibri" panose="020F0502020204030204" pitchFamily="34" charset="0"/>
            </a:endParaRPr>
          </a:p>
          <a:p>
            <a:pPr lvl="1"/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23539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1.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format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Pre-training</a:t>
            </a:r>
            <a:endParaRPr kumimoji="1" lang="en-US" altLang="zh-CN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SFT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OpenAI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format)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DPO</a:t>
            </a:r>
          </a:p>
          <a:p>
            <a:pPr lvl="1"/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Put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LlamaFactory</a:t>
            </a:r>
            <a:r>
              <a:rPr kumimoji="1" lang="en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/data</a:t>
            </a: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Modify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dataset_info.json</a:t>
            </a:r>
            <a:endParaRPr kumimoji="1"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51E0BBA1-BE4C-4259-EE73-656938564E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2118" y="2003951"/>
            <a:ext cx="1873882" cy="73346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4FB6DF6-16A8-9607-3B87-7CB0BC480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395" y="1811591"/>
            <a:ext cx="3540938" cy="3234818"/>
          </a:xfrm>
          <a:prstGeom prst="rect">
            <a:avLst/>
          </a:prstGeom>
        </p:spPr>
      </p:pic>
      <p:cxnSp>
        <p:nvCxnSpPr>
          <p:cNvPr id="9" name="直线连接符 8">
            <a:extLst>
              <a:ext uri="{FF2B5EF4-FFF2-40B4-BE49-F238E27FC236}">
                <a16:creationId xmlns:a16="http://schemas.microsoft.com/office/drawing/2014/main" id="{F8E734B0-6AA2-1023-869C-34B18F9F681D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3176337" y="2370683"/>
            <a:ext cx="1045781" cy="13188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线连接符 9">
            <a:extLst>
              <a:ext uri="{FF2B5EF4-FFF2-40B4-BE49-F238E27FC236}">
                <a16:creationId xmlns:a16="http://schemas.microsoft.com/office/drawing/2014/main" id="{4C983572-ACA7-48E1-E071-F8C9DFC22090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4222118" y="2915741"/>
            <a:ext cx="2718277" cy="513259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线连接符 16">
            <a:extLst>
              <a:ext uri="{FF2B5EF4-FFF2-40B4-BE49-F238E27FC236}">
                <a16:creationId xmlns:a16="http://schemas.microsoft.com/office/drawing/2014/main" id="{0E9B77CE-39B5-1058-9FE9-4BB0BF7DE1FF}"/>
              </a:ext>
            </a:extLst>
          </p:cNvPr>
          <p:cNvCxnSpPr/>
          <p:nvPr/>
        </p:nvCxnSpPr>
        <p:spPr>
          <a:xfrm>
            <a:off x="8518359" y="4337450"/>
            <a:ext cx="1118937" cy="0"/>
          </a:xfrm>
          <a:prstGeom prst="line">
            <a:avLst/>
          </a:prstGeom>
          <a:ln w="28575"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E6BB2303-B29C-9E38-AF23-E85F14B29D1B}"/>
              </a:ext>
            </a:extLst>
          </p:cNvPr>
          <p:cNvSpPr txBox="1"/>
          <p:nvPr/>
        </p:nvSpPr>
        <p:spPr>
          <a:xfrm>
            <a:off x="9543855" y="4329787"/>
            <a:ext cx="583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Loss</a:t>
            </a:r>
            <a:endParaRPr kumimoji="1" lang="zh-CN" altLang="en-US" dirty="0">
              <a:solidFill>
                <a:schemeClr val="accent2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066507BA-87DF-1BD7-22CA-07BD54C3D3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6337" y="3206720"/>
            <a:ext cx="3540937" cy="1367892"/>
          </a:xfrm>
          <a:prstGeom prst="rect">
            <a:avLst/>
          </a:prstGeom>
        </p:spPr>
      </p:pic>
      <p:cxnSp>
        <p:nvCxnSpPr>
          <p:cNvPr id="20" name="直线连接符 19">
            <a:extLst>
              <a:ext uri="{FF2B5EF4-FFF2-40B4-BE49-F238E27FC236}">
                <a16:creationId xmlns:a16="http://schemas.microsoft.com/office/drawing/2014/main" id="{40E57105-AE69-70CE-3D65-FCDD6EA53781}"/>
              </a:ext>
            </a:extLst>
          </p:cNvPr>
          <p:cNvCxnSpPr>
            <a:cxnSpLocks/>
            <a:endCxn id="19" idx="1"/>
          </p:cNvCxnSpPr>
          <p:nvPr/>
        </p:nvCxnSpPr>
        <p:spPr>
          <a:xfrm>
            <a:off x="2194619" y="3296653"/>
            <a:ext cx="981718" cy="594013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680D7E60-448A-CFAA-0CD6-CF07074CC96A}"/>
              </a:ext>
            </a:extLst>
          </p:cNvPr>
          <p:cNvSpPr txBox="1"/>
          <p:nvPr/>
        </p:nvSpPr>
        <p:spPr>
          <a:xfrm>
            <a:off x="7644064" y="6550223"/>
            <a:ext cx="45479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zh-CN" altLang="en-US" sz="1400" i="1" dirty="0">
                <a:latin typeface="Calibri" panose="020F0502020204030204" pitchFamily="34" charset="0"/>
                <a:cs typeface="Calibri" panose="020F0502020204030204" pitchFamily="34" charset="0"/>
              </a:rPr>
              <a:t>https://github.com/hiyouga/LlamaFactory/tree/main/data</a:t>
            </a:r>
          </a:p>
        </p:txBody>
      </p: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3C256E03-6939-1145-2541-2E33EDAA5E3E}"/>
              </a:ext>
            </a:extLst>
          </p:cNvPr>
          <p:cNvGrpSpPr/>
          <p:nvPr/>
        </p:nvGrpSpPr>
        <p:grpSpPr>
          <a:xfrm>
            <a:off x="838200" y="6087021"/>
            <a:ext cx="2671301" cy="635000"/>
            <a:chOff x="4277360" y="3688080"/>
            <a:chExt cx="2671301" cy="635000"/>
          </a:xfrm>
        </p:grpSpPr>
        <p:pic>
          <p:nvPicPr>
            <p:cNvPr id="38" name="图形 37" descr="程序员">
              <a:extLst>
                <a:ext uri="{FF2B5EF4-FFF2-40B4-BE49-F238E27FC236}">
                  <a16:creationId xmlns:a16="http://schemas.microsoft.com/office/drawing/2014/main" id="{37A1BDAD-AD53-EE58-B0B0-42B4712248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277360" y="3688080"/>
              <a:ext cx="635000" cy="635000"/>
            </a:xfrm>
            <a:prstGeom prst="rect">
              <a:avLst/>
            </a:prstGeom>
          </p:spPr>
        </p:pic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41A9285B-047B-61A7-F155-2FE7472B5DE9}"/>
                </a:ext>
              </a:extLst>
            </p:cNvPr>
            <p:cNvSpPr txBox="1"/>
            <p:nvPr/>
          </p:nvSpPr>
          <p:spPr>
            <a:xfrm>
              <a:off x="4836160" y="3820914"/>
              <a:ext cx="21125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Let’s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see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the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code.</a:t>
              </a:r>
              <a:endParaRPr kumimoji="1" lang="zh-CN" altLang="en-US" sz="20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85628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2.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Setting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task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not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difficult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one,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try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PEFT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methods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first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no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idea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about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hyperparameters,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resorting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good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practice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2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❌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“我要训个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7B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的模型，超参怎么写？”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2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✅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“我的任务是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数据量有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模型大小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来源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手头资源有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精度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训练范式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已有经验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上下文长度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”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kumimoji="1" lang="en-US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LlamaFactory</a:t>
            </a:r>
            <a:r>
              <a:rPr kumimoji="1"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/examples/</a:t>
            </a:r>
            <a:r>
              <a:rPr kumimoji="1" lang="en-US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train_lora</a:t>
            </a:r>
            <a:r>
              <a:rPr kumimoji="1"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/qwen3_lora_sft.yaml</a:t>
            </a:r>
          </a:p>
        </p:txBody>
      </p:sp>
      <p:pic>
        <p:nvPicPr>
          <p:cNvPr id="6146" name="Picture 2" descr="LoRA: Low Rank Adaptation of Large Language Models | by Tayyib Ul Hassan  Gondal | Medium">
            <a:extLst>
              <a:ext uri="{FF2B5EF4-FFF2-40B4-BE49-F238E27FC236}">
                <a16:creationId xmlns:a16="http://schemas.microsoft.com/office/drawing/2014/main" id="{32BBEA0B-0E96-4FD4-FDF4-6B3A8998FE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87064" y="4973480"/>
            <a:ext cx="2149641" cy="1884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9F420037-D5CD-9F4C-1885-0C413918623D}"/>
              </a:ext>
            </a:extLst>
          </p:cNvPr>
          <p:cNvGrpSpPr/>
          <p:nvPr/>
        </p:nvGrpSpPr>
        <p:grpSpPr>
          <a:xfrm>
            <a:off x="1473200" y="4775200"/>
            <a:ext cx="2671301" cy="635000"/>
            <a:chOff x="4277360" y="3688080"/>
            <a:chExt cx="2671301" cy="635000"/>
          </a:xfrm>
        </p:grpSpPr>
        <p:pic>
          <p:nvPicPr>
            <p:cNvPr id="6" name="图形 5" descr="程序员">
              <a:extLst>
                <a:ext uri="{FF2B5EF4-FFF2-40B4-BE49-F238E27FC236}">
                  <a16:creationId xmlns:a16="http://schemas.microsoft.com/office/drawing/2014/main" id="{831337D2-AD6B-4CF6-08E6-8067930DF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277360" y="3688080"/>
              <a:ext cx="635000" cy="635000"/>
            </a:xfrm>
            <a:prstGeom prst="rect">
              <a:avLst/>
            </a:prstGeom>
          </p:spPr>
        </p:pic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EFBE0D5F-3C59-5F07-5052-5BCB2A863AC9}"/>
                </a:ext>
              </a:extLst>
            </p:cNvPr>
            <p:cNvSpPr txBox="1"/>
            <p:nvPr/>
          </p:nvSpPr>
          <p:spPr>
            <a:xfrm>
              <a:off x="4836160" y="3820914"/>
              <a:ext cx="21125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Let’s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see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the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code.</a:t>
              </a:r>
              <a:endParaRPr kumimoji="1" lang="zh-CN" altLang="en-US" sz="20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110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一键启动：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llamafactory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-cli train examples/</a:t>
            </a:r>
            <a:r>
              <a:rPr lang="en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train_lora</a:t>
            </a:r>
            <a: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/qwen3_lora_sft.yaml</a:t>
            </a:r>
            <a:br>
              <a:rPr lang="en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kumimoji="1" lang="en-US" altLang="zh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26078EB-3752-FD61-46C9-1252B853E80D}"/>
              </a:ext>
            </a:extLst>
          </p:cNvPr>
          <p:cNvSpPr txBox="1"/>
          <p:nvPr/>
        </p:nvSpPr>
        <p:spPr>
          <a:xfrm>
            <a:off x="6096000" y="648866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zh-CN" altLang="en-US" sz="1400" i="1" dirty="0">
                <a:latin typeface="Calibri" panose="020F0502020204030204" pitchFamily="34" charset="0"/>
                <a:cs typeface="Calibri" panose="020F0502020204030204" pitchFamily="34" charset="0"/>
              </a:rPr>
              <a:t>https://github.com/hiyouga/LlamaFactory/blob/main/examples/README.md</a:t>
            </a:r>
          </a:p>
        </p:txBody>
      </p:sp>
    </p:spTree>
    <p:extLst>
      <p:ext uri="{BB962C8B-B14F-4D97-AF65-F5344CB8AC3E}">
        <p14:creationId xmlns:p14="http://schemas.microsoft.com/office/powerpoint/2010/main" val="12555733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3.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Things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will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happen…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0: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CUDA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Out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Memory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Half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precision: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fp16,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bf16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Gradient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checkpointing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时间换空间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 err="1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mirco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batch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size,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gradient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accumulation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sequence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length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(if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short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context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lengths)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PEFT?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(Start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simple)</a:t>
            </a:r>
          </a:p>
        </p:txBody>
      </p:sp>
    </p:spTree>
    <p:extLst>
      <p:ext uri="{BB962C8B-B14F-4D97-AF65-F5344CB8AC3E}">
        <p14:creationId xmlns:p14="http://schemas.microsoft.com/office/powerpoint/2010/main" val="3724825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3.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Things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will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happen…</a:t>
            </a: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1: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 loss decreases slowly until the end but does not converge.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complete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load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 err="1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ckpt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and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try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continuing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Learning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rate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too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small</a:t>
            </a:r>
          </a:p>
        </p:txBody>
      </p:sp>
    </p:spTree>
    <p:extLst>
      <p:ext uri="{BB962C8B-B14F-4D97-AF65-F5344CB8AC3E}">
        <p14:creationId xmlns:p14="http://schemas.microsoft.com/office/powerpoint/2010/main" val="2254341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3.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Things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will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happen…</a:t>
            </a: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2: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loss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explodes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beginning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 loss fluctuates sharply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Try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smaller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Learning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Rate,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larger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batch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size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gradient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accumulation</a:t>
            </a:r>
          </a:p>
          <a:p>
            <a:pPr marL="0" indent="0">
              <a:buNone/>
            </a:pP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Precision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mismatch</a:t>
            </a:r>
          </a:p>
        </p:txBody>
      </p:sp>
    </p:spTree>
    <p:extLst>
      <p:ext uri="{BB962C8B-B14F-4D97-AF65-F5344CB8AC3E}">
        <p14:creationId xmlns:p14="http://schemas.microsoft.com/office/powerpoint/2010/main" val="3188129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3.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Things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will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happen…</a:t>
            </a: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3: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loss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converges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some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point.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Evaluation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bad.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arbitrary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" altLang="zh-CN" dirty="0">
                <a:latin typeface="Calibri" panose="020F0502020204030204" pitchFamily="34" charset="0"/>
                <a:cs typeface="Calibri" panose="020F0502020204030204" pitchFamily="34" charset="0"/>
              </a:rPr>
              <a:t>perspective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overfitting.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However,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depends…</a:t>
            </a:r>
          </a:p>
          <a:p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loss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near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zero,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may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overfitting</a:t>
            </a:r>
          </a:p>
          <a:p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not,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could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</a:t>
            </a:r>
          </a:p>
          <a:p>
            <a:pPr lvl="1"/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Model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capacity</a:t>
            </a:r>
          </a:p>
          <a:p>
            <a:pPr lvl="1"/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complexity</a:t>
            </a:r>
          </a:p>
          <a:p>
            <a:pPr lvl="1"/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setting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(Try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larger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 err="1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LoRA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rank,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full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finetune)</a:t>
            </a:r>
          </a:p>
          <a:p>
            <a:pPr lvl="1"/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315111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3.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Things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will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happen…</a:t>
            </a: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4: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Worse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than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base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model</a:t>
            </a:r>
          </a:p>
          <a:p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Check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quality/format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FIRST</a:t>
            </a:r>
          </a:p>
          <a:p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Learning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rate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too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large</a:t>
            </a:r>
          </a:p>
          <a:p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Use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development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set</a:t>
            </a:r>
          </a:p>
          <a:p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Inference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setting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(wrong</a:t>
            </a:r>
            <a:r>
              <a:rPr kumimoji="1" lang="zh-CN" altLang="en-US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tokenizer)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3588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Training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(Llama-Factory)</a:t>
            </a:r>
            <a:endParaRPr kumimoji="1" lang="zh-CN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15A0B39F-B083-3294-6195-A9FA47A3D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kumimoji="1"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3.</a:t>
                </a:r>
                <a:r>
                  <a:rPr kumimoji="1" lang="zh-CN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 </a:t>
                </a:r>
                <a:r>
                  <a:rPr kumimoji="1"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Things</a:t>
                </a:r>
                <a:r>
                  <a:rPr kumimoji="1" lang="zh-CN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will</a:t>
                </a:r>
                <a:r>
                  <a:rPr kumimoji="1" lang="zh-CN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happen…</a:t>
                </a:r>
              </a:p>
              <a:p>
                <a:pPr marL="0" indent="0">
                  <a:buNone/>
                </a:pPr>
                <a:r>
                  <a:rPr kumimoji="1" lang="en-US" altLang="zh-CN" dirty="0">
                    <a:latin typeface="Calibri" panose="020F0502020204030204" pitchFamily="34" charset="0"/>
                    <a:cs typeface="Calibri" panose="020F0502020204030204" pitchFamily="34" charset="0"/>
                  </a:rPr>
                  <a:t>Case</a:t>
                </a:r>
                <a:r>
                  <a:rPr kumimoji="1" lang="zh-CN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" altLang="zh-CN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∞</m:t>
                    </m:r>
                  </m:oMath>
                </a14:m>
                <a:endParaRPr kumimoji="1" lang="en-US" altLang="zh-CN" dirty="0">
                  <a:latin typeface="Calibri" panose="020F0502020204030204" pitchFamily="34" charset="0"/>
                  <a:cs typeface="Calibri" panose="020F0502020204030204" pitchFamily="34" charset="0"/>
                </a:endParaRPr>
              </a:p>
              <a:p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We are lucky to have AI</a:t>
                </a:r>
              </a:p>
              <a:p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Check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GitHub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issues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&amp;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community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solutions</a:t>
                </a:r>
              </a:p>
              <a:p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Start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simple</a:t>
                </a:r>
              </a:p>
              <a:p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Isolate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variables,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one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thing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at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a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time</a:t>
                </a:r>
              </a:p>
              <a:p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Training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Fail?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Check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data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first,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then</a:t>
                </a:r>
                <a:r>
                  <a:rPr kumimoji="1" lang="zh-CN" altLang="en-US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zh-CN" dirty="0">
                    <a:solidFill>
                      <a:srgbClr val="92D05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hyperparameters</a:t>
                </a:r>
              </a:p>
            </p:txBody>
          </p:sp>
        </mc:Choice>
        <mc:Fallback>
          <p:sp>
            <p:nvSpPr>
              <p:cNvPr id="3" name="内容占位符 2">
                <a:extLst>
                  <a:ext uri="{FF2B5EF4-FFF2-40B4-BE49-F238E27FC236}">
                    <a16:creationId xmlns:a16="http://schemas.microsoft.com/office/drawing/2014/main" id="{15A0B39F-B083-3294-6195-A9FA47A3D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9652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FD6A4F-4C91-23B4-6801-23700D950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Content</a:t>
            </a:r>
            <a:endParaRPr kumimoji="1" lang="zh-CN" altLang="en-US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AFD580-9520-0FED-7209-FBF41E098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46957" cy="4921164"/>
          </a:xfrm>
        </p:spPr>
        <p:txBody>
          <a:bodyPr>
            <a:normAutofit/>
          </a:bodyPr>
          <a:lstStyle/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External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Tools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Data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synthesis,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preliminary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experiments,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etc.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solidFill>
                <a:schemeClr val="bg1">
                  <a:lumMod val="75000"/>
                </a:schemeClr>
              </a:solidFill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Training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Frameworks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Arguments</a:t>
            </a:r>
          </a:p>
          <a:p>
            <a:pPr lvl="1"/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Case</a:t>
            </a:r>
            <a:r>
              <a:rPr kumimoji="1" lang="zh-CN" altLang="en-US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study</a:t>
            </a:r>
          </a:p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Past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and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Present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Implementations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75160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64200" cy="4351338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Alright!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now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have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trained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model</a:t>
            </a:r>
          </a:p>
          <a:p>
            <a:pPr marL="0" indent="0">
              <a:buNone/>
            </a:pP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Past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Load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model</a:t>
            </a:r>
          </a:p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Tokenize</a:t>
            </a:r>
          </a:p>
          <a:p>
            <a:r>
              <a:rPr kumimoji="1" lang="en-US" altLang="zh-CN" dirty="0" err="1">
                <a:latin typeface="Consolas" panose="020B0609020204030204" pitchFamily="49" charset="0"/>
                <a:cs typeface="Consolas" panose="020B0609020204030204" pitchFamily="49" charset="0"/>
              </a:rPr>
              <a:t>model.generate</a:t>
            </a:r>
            <a:endParaRPr kumimoji="1" lang="en-US" altLang="zh-CN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kumimoji="1"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✅</a:t>
            </a:r>
            <a:r>
              <a:rPr kumimoji="1"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kumimoji="1"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Batch</a:t>
            </a:r>
          </a:p>
          <a:p>
            <a:pPr lvl="1"/>
            <a:r>
              <a:rPr kumimoji="1"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❌</a:t>
            </a:r>
            <a:r>
              <a:rPr kumimoji="1" lang="zh-CN" alt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kumimoji="1" lang="en-US" altLang="zh-CN" dirty="0">
                <a:latin typeface="Consolas" panose="020B0609020204030204" pitchFamily="49" charset="0"/>
                <a:cs typeface="Consolas" panose="020B0609020204030204" pitchFamily="49" charset="0"/>
              </a:rPr>
              <a:t>Multi-processing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B5B0847-A25E-59B0-4928-14F67AD88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1361" y="2812963"/>
            <a:ext cx="3992879" cy="3364000"/>
          </a:xfrm>
          <a:prstGeom prst="roundRect">
            <a:avLst>
              <a:gd name="adj" fmla="val 3948"/>
            </a:avLst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35149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Present: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Code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frameworks</a:t>
            </a: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vLLM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zh-CN" altLang="en-US" dirty="0">
                <a:solidFill>
                  <a:srgbClr val="0F1115"/>
                </a:solidFill>
                <a:latin typeface="quote-cjk-patch"/>
              </a:rPr>
              <a:t>简单易用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,</a:t>
            </a:r>
            <a:r>
              <a:rPr lang="en" altLang="zh-CN" b="0" i="0" dirty="0"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lang="en" altLang="zh-CN" b="0" i="0" dirty="0" err="1">
                <a:solidFill>
                  <a:srgbClr val="0F1115"/>
                </a:solidFill>
                <a:effectLst/>
                <a:latin typeface="quote-cjk-patch"/>
              </a:rPr>
              <a:t>OpenAI</a:t>
            </a:r>
            <a:r>
              <a:rPr lang="en" altLang="zh-CN" b="0" i="0" dirty="0">
                <a:solidFill>
                  <a:srgbClr val="0F1115"/>
                </a:solidFill>
                <a:effectLst/>
                <a:latin typeface="quote-cjk-patch"/>
              </a:rPr>
              <a:t>-compatible API</a:t>
            </a:r>
            <a:r>
              <a:rPr lang="en-US" altLang="zh-CN" b="0" i="0" dirty="0">
                <a:solidFill>
                  <a:srgbClr val="0F1115"/>
                </a:solidFill>
                <a:effectLst/>
                <a:latin typeface="quote-cjk-patch"/>
              </a:rPr>
              <a:t>,</a:t>
            </a:r>
            <a:r>
              <a:rPr lang="zh-CN" altLang="en-US" dirty="0">
                <a:solidFill>
                  <a:srgbClr val="0F1115"/>
                </a:solidFill>
                <a:latin typeface="quote-cjk-patch"/>
              </a:rPr>
              <a:t> </a:t>
            </a:r>
            <a:r>
              <a:rPr kumimoji="1" lang="zh-CN" altLang="en-US" dirty="0">
                <a:solidFill>
                  <a:srgbClr val="0F1115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社区生态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SGLang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结构化生成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多轮对话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TensorRT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-LLM</a:t>
            </a: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NVIDIA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开发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极致性能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llama.cpp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C/C++,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local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27738710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4253D3-C504-F056-D096-02C9A7313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(</a:t>
            </a:r>
            <a:r>
              <a:rPr kumimoji="1" lang="en-US" altLang="zh-CN" dirty="0" err="1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vLLM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A0B39F-B083-3294-6195-A9FA47A3D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Pros</a:t>
            </a:r>
          </a:p>
          <a:p>
            <a:r>
              <a:rPr kumimoji="1" lang="en-US" altLang="zh-CN" dirty="0" err="1">
                <a:latin typeface="Calibri" panose="020F0502020204030204" pitchFamily="34" charset="0"/>
                <a:cs typeface="Calibri" panose="020F0502020204030204" pitchFamily="34" charset="0"/>
              </a:rPr>
              <a:t>PagedAttention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灵活调度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前缀缓存</a:t>
            </a: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endParaRPr kumimoji="1"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Usage</a:t>
            </a:r>
          </a:p>
          <a:p>
            <a:pPr marL="514350" indent="-514350">
              <a:buFont typeface="+mj-lt"/>
              <a:buAutoNum type="arabicPeriod"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Launch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server</a:t>
            </a:r>
          </a:p>
          <a:p>
            <a:pPr marL="514350" indent="-514350">
              <a:buFont typeface="+mj-lt"/>
              <a:buAutoNum type="arabicPeriod"/>
            </a:pP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Visit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IP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(with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multi-processing)</a:t>
            </a:r>
          </a:p>
        </p:txBody>
      </p:sp>
      <p:sp>
        <p:nvSpPr>
          <p:cNvPr id="8" name="线形标注 1 (带边框和强调线) 7">
            <a:extLst>
              <a:ext uri="{FF2B5EF4-FFF2-40B4-BE49-F238E27FC236}">
                <a16:creationId xmlns:a16="http://schemas.microsoft.com/office/drawing/2014/main" id="{0012F66A-C783-8934-1E4E-AC018BD2BBA6}"/>
              </a:ext>
            </a:extLst>
          </p:cNvPr>
          <p:cNvSpPr/>
          <p:nvPr/>
        </p:nvSpPr>
        <p:spPr>
          <a:xfrm>
            <a:off x="4632960" y="2326640"/>
            <a:ext cx="2062480" cy="1323439"/>
          </a:xfrm>
          <a:prstGeom prst="accentBorderCallout1">
            <a:avLst>
              <a:gd name="adj1" fmla="val 18750"/>
              <a:gd name="adj2" fmla="val -8333"/>
              <a:gd name="adj3" fmla="val 15149"/>
              <a:gd name="adj4" fmla="val -49663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noFill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B1FFFD8-EA9E-536C-B094-80B8C08DF680}"/>
              </a:ext>
            </a:extLst>
          </p:cNvPr>
          <p:cNvSpPr txBox="1"/>
          <p:nvPr/>
        </p:nvSpPr>
        <p:spPr>
          <a:xfrm>
            <a:off x="4632960" y="2326640"/>
            <a:ext cx="20624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dirty="0"/>
              <a:t>KV</a:t>
            </a:r>
            <a:r>
              <a:rPr kumimoji="1" lang="zh-CN" altLang="en-US" sz="1600" dirty="0"/>
              <a:t> </a:t>
            </a:r>
            <a:r>
              <a:rPr kumimoji="1" lang="en-US" altLang="zh-CN" sz="1600" dirty="0"/>
              <a:t>Cache</a:t>
            </a:r>
            <a:r>
              <a:rPr kumimoji="1" lang="zh-CN" altLang="en-US" sz="1600" dirty="0"/>
              <a:t> 是针对单样本的推理优化，</a:t>
            </a:r>
            <a:r>
              <a:rPr kumimoji="1" lang="en-US" altLang="zh-CN" sz="1600" dirty="0" err="1"/>
              <a:t>PagedAttention</a:t>
            </a:r>
            <a:r>
              <a:rPr kumimoji="1" lang="zh-CN" altLang="en-US" sz="1600" dirty="0"/>
              <a:t> 解决了多样本并发时导致的显存碎片化问题。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88CCF8F7-745B-2623-0DA2-E8061DBA77DE}"/>
              </a:ext>
            </a:extLst>
          </p:cNvPr>
          <p:cNvGrpSpPr/>
          <p:nvPr/>
        </p:nvGrpSpPr>
        <p:grpSpPr>
          <a:xfrm>
            <a:off x="6024880" y="4958080"/>
            <a:ext cx="2671301" cy="635000"/>
            <a:chOff x="4277360" y="3688080"/>
            <a:chExt cx="2671301" cy="635000"/>
          </a:xfrm>
        </p:grpSpPr>
        <p:pic>
          <p:nvPicPr>
            <p:cNvPr id="15" name="图形 14" descr="程序员">
              <a:extLst>
                <a:ext uri="{FF2B5EF4-FFF2-40B4-BE49-F238E27FC236}">
                  <a16:creationId xmlns:a16="http://schemas.microsoft.com/office/drawing/2014/main" id="{6FF415D2-1ABE-2E3A-4695-4581C1975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277360" y="3688080"/>
              <a:ext cx="635000" cy="635000"/>
            </a:xfrm>
            <a:prstGeom prst="rect">
              <a:avLst/>
            </a:prstGeom>
          </p:spPr>
        </p:pic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DE393462-2848-68AF-5C8A-48C64D3B4FEB}"/>
                </a:ext>
              </a:extLst>
            </p:cNvPr>
            <p:cNvSpPr txBox="1"/>
            <p:nvPr/>
          </p:nvSpPr>
          <p:spPr>
            <a:xfrm>
              <a:off x="4836160" y="3820914"/>
              <a:ext cx="211250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Let’s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see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the</a:t>
              </a:r>
              <a:r>
                <a:rPr kumimoji="1" lang="zh-CN" altLang="en-US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kumimoji="1" lang="en-US" altLang="zh-CN" sz="2000" dirty="0">
                  <a:latin typeface="Calibri" panose="020F0502020204030204" pitchFamily="34" charset="0"/>
                  <a:cs typeface="Calibri" panose="020F0502020204030204" pitchFamily="34" charset="0"/>
                </a:rPr>
                <a:t>code.</a:t>
              </a:r>
              <a:endParaRPr kumimoji="1" lang="zh-CN" altLang="en-US" sz="2000" dirty="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8463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5BAA40-824A-8AB6-1674-555AFB206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up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Further</a:t>
            </a:r>
            <a:r>
              <a:rPr kumimoji="1" lang="zh-CN" altLang="en-US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Applications</a:t>
            </a:r>
            <a:endParaRPr kumimoji="1" lang="zh-CN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A43EB1-E486-BE75-E506-1D4592B139D0}"/>
              </a:ext>
            </a:extLst>
          </p:cNvPr>
          <p:cNvSpPr>
            <a:spLocks noGrp="1"/>
          </p:cNvSpPr>
          <p:nvPr>
            <p:ph idx="1"/>
          </p:nvPr>
        </p:nvSpPr>
        <p:spPr>
          <a:ln>
            <a:noFill/>
          </a:ln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Online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&amp;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External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Tools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API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Usage</a:t>
            </a:r>
          </a:p>
          <a:p>
            <a:pPr lvl="1">
              <a:lnSpc>
                <a:spcPct val="100000"/>
              </a:lnSpc>
            </a:pPr>
            <a:r>
              <a:rPr kumimoji="1" lang="en-US" altLang="zh-CN" sz="20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LLM</a:t>
            </a:r>
            <a:r>
              <a:rPr kumimoji="1" lang="zh-CN" altLang="en-US" sz="20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评分、结构化抽取、帮忙读论文总结内容、审核（安全、不当内容）</a:t>
            </a: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</a:pP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Training</a:t>
            </a:r>
          </a:p>
          <a:p>
            <a:pPr lvl="1">
              <a:lnSpc>
                <a:spcPct val="100000"/>
              </a:lnSpc>
            </a:pPr>
            <a:r>
              <a:rPr kumimoji="1" lang="zh-CN" altLang="en-US" sz="2000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指令遵循、风格迁移、蒸馏小模型</a:t>
            </a:r>
            <a:endParaRPr kumimoji="1" lang="en-US" altLang="zh-CN" sz="2000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</a:pP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LLM</a:t>
            </a:r>
            <a:r>
              <a:rPr kumimoji="1" lang="zh-CN" altLang="en-US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 </a:t>
            </a:r>
            <a:r>
              <a:rPr kumimoji="1" lang="en-US" altLang="zh-CN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Inference/Deployment</a:t>
            </a:r>
          </a:p>
          <a:p>
            <a:pPr lvl="1">
              <a:lnSpc>
                <a:spcPct val="100000"/>
              </a:lnSpc>
            </a:pPr>
            <a:r>
              <a:rPr kumimoji="1" lang="zh-CN" altLang="en-US" sz="2000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移动端</a:t>
            </a:r>
            <a:r>
              <a:rPr kumimoji="1" lang="en-US" altLang="zh-CN" sz="2000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App</a:t>
            </a:r>
            <a:r>
              <a:rPr kumimoji="1" lang="zh-CN" altLang="en-US" sz="2000" dirty="0">
                <a:latin typeface="Calibri" panose="020F0502020204030204" pitchFamily="34" charset="0"/>
                <a:ea typeface="Microsoft YaHei" panose="020B0503020204020204" pitchFamily="34" charset="-122"/>
                <a:cs typeface="Calibri" panose="020F0502020204030204" pitchFamily="34" charset="0"/>
              </a:rPr>
              <a:t>、企业内部部署</a:t>
            </a:r>
            <a:endParaRPr kumimoji="1" lang="en-US" altLang="zh-CN" sz="2000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  <a:p>
            <a:pPr lvl="1">
              <a:lnSpc>
                <a:spcPct val="100000"/>
              </a:lnSpc>
            </a:pPr>
            <a:endParaRPr kumimoji="1" lang="en-US" altLang="zh-CN" dirty="0">
              <a:latin typeface="Calibri" panose="020F0502020204030204" pitchFamily="34" charset="0"/>
              <a:ea typeface="Microsoft YaHei" panose="020B0503020204020204" pitchFamily="34" charset="-122"/>
              <a:cs typeface="Calibri" panose="020F050202020403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8CB8FA6-17F5-D6B8-7316-4B18B31E09F0}"/>
              </a:ext>
            </a:extLst>
          </p:cNvPr>
          <p:cNvSpPr txBox="1"/>
          <p:nvPr/>
        </p:nvSpPr>
        <p:spPr>
          <a:xfrm>
            <a:off x="1397000" y="5942568"/>
            <a:ext cx="6573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https://github.com/Chord-Chen-30/ShanghaiTech-NLP-Lecture-S26</a:t>
            </a:r>
            <a:endParaRPr lang="en-US" altLang="zh-C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图形 8" descr="程序员">
            <a:extLst>
              <a:ext uri="{FF2B5EF4-FFF2-40B4-BE49-F238E27FC236}">
                <a16:creationId xmlns:a16="http://schemas.microsoft.com/office/drawing/2014/main" id="{B0894712-CA53-5587-0B5F-14E833AEBE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8200" y="5676900"/>
            <a:ext cx="63500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82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3862</TotalTime>
  <Words>1280</Words>
  <Application>Microsoft Macintosh PowerPoint</Application>
  <PresentationFormat>宽屏</PresentationFormat>
  <Paragraphs>258</Paragraphs>
  <Slides>28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7" baseType="lpstr">
      <vt:lpstr>等线</vt:lpstr>
      <vt:lpstr>等线 Light</vt:lpstr>
      <vt:lpstr>Microsoft YaHei</vt:lpstr>
      <vt:lpstr>quote-cjk-patch</vt:lpstr>
      <vt:lpstr>Arial</vt:lpstr>
      <vt:lpstr>Calibri</vt:lpstr>
      <vt:lpstr>Cambria Math</vt:lpstr>
      <vt:lpstr>Consolas</vt:lpstr>
      <vt:lpstr>Office 主题​​</vt:lpstr>
      <vt:lpstr>LLM Engineering &amp; Practice 大模型工程应用和实践</vt:lpstr>
      <vt:lpstr>Content</vt:lpstr>
      <vt:lpstr>Why these stuff?</vt:lpstr>
      <vt:lpstr>Content</vt:lpstr>
      <vt:lpstr>Online LLM API Usage</vt:lpstr>
      <vt:lpstr>Online LLM API Usage</vt:lpstr>
      <vt:lpstr>Online LLM API Usage</vt:lpstr>
      <vt:lpstr>External Tools API Usage</vt:lpstr>
      <vt:lpstr>Jina</vt:lpstr>
      <vt:lpstr>Online API Usage</vt:lpstr>
      <vt:lpstr>Content</vt:lpstr>
      <vt:lpstr>LLM Training</vt:lpstr>
      <vt:lpstr>LLM Training</vt:lpstr>
      <vt:lpstr>LLM Training</vt:lpstr>
      <vt:lpstr>LLM Training (Llama-Factory)</vt:lpstr>
      <vt:lpstr>LLM Training (Llama-Factory)</vt:lpstr>
      <vt:lpstr>LLM Training (Llama-Factory)</vt:lpstr>
      <vt:lpstr>LLM Training (Llama-Factory)</vt:lpstr>
      <vt:lpstr>LLM Training (Llama-Factory)</vt:lpstr>
      <vt:lpstr>LLM Training (Llama-Factory)</vt:lpstr>
      <vt:lpstr>LLM Training (Llama-Factory)</vt:lpstr>
      <vt:lpstr>LLM Training (Llama-Factory)</vt:lpstr>
      <vt:lpstr>LLM Training (Llama-Factory)</vt:lpstr>
      <vt:lpstr>Content</vt:lpstr>
      <vt:lpstr>LLM Inference/Deployment</vt:lpstr>
      <vt:lpstr>LLM Inference/Deployment</vt:lpstr>
      <vt:lpstr>LLM Inference/Deployment (vLLM)</vt:lpstr>
      <vt:lpstr>Sum up &amp; Further Applications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Engineering &amp; Practice 大模型工程应用和实践</dc:title>
  <dc:creator>Microsoft Office User</dc:creator>
  <cp:lastModifiedBy>Microsoft Office User</cp:lastModifiedBy>
  <cp:revision>256</cp:revision>
  <dcterms:created xsi:type="dcterms:W3CDTF">2026-04-10T12:31:06Z</dcterms:created>
  <dcterms:modified xsi:type="dcterms:W3CDTF">2026-04-13T04:54:41Z</dcterms:modified>
</cp:coreProperties>
</file>